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842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Log_salary</a:t>
            </a:r>
            <a:r>
              <a:rPr lang="en-US" dirty="0"/>
              <a:t>, pts, </a:t>
            </a:r>
            <a:r>
              <a:rPr lang="en-US" dirty="0" err="1"/>
              <a:t>ast</a:t>
            </a:r>
            <a:r>
              <a:rPr lang="en-US" dirty="0"/>
              <a:t>, total rebounds, win shares, player efficiency rating (PER), </a:t>
            </a:r>
            <a:r>
              <a:rPr lang="en-US" dirty="0" err="1"/>
              <a:t>usg</a:t>
            </a:r>
            <a:r>
              <a:rPr lang="en-US" dirty="0"/>
              <a:t>% (what % of team plays a player involve, bpm box plus-minus, value over replacement </a:t>
            </a:r>
            <a:r>
              <a:rPr lang="en-US" dirty="0" err="1"/>
              <a:t>player:total</a:t>
            </a:r>
            <a:r>
              <a:rPr lang="en-US" dirty="0"/>
              <a:t> contribution, </a:t>
            </a:r>
            <a:r>
              <a:rPr lang="en-US" dirty="0" err="1"/>
              <a:t>salaryperws</a:t>
            </a:r>
            <a:r>
              <a:rPr lang="en-US" dirty="0"/>
              <a:t>, pts per dollar, per salary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858000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7114032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370064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626096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7882128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8394192" y="137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858000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7114032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370064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626096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882128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138160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8394192" y="393192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858000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114032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370064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626096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7882128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8138160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8394192" y="649224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6858000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114032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370064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7626096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7882128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8138160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8394192" y="905256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858000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7114032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7370064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7626096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882128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8138160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8394192" y="1161288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MINING APPLICATION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2920" y="685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DETECTING NBA</a:t>
            </a:r>
            <a:endParaRPr lang="en-US" sz="4200" dirty="0"/>
          </a:p>
        </p:txBody>
      </p:sp>
      <p:sp>
        <p:nvSpPr>
          <p:cNvPr id="41" name="Text 39"/>
          <p:cNvSpPr/>
          <p:nvPr/>
        </p:nvSpPr>
        <p:spPr>
          <a:xfrm>
            <a:off x="502920" y="15087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D6B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SALARY ANOMALIES</a:t>
            </a:r>
            <a:endParaRPr lang="en-US" sz="4200" dirty="0"/>
          </a:p>
        </p:txBody>
      </p:sp>
      <p:sp>
        <p:nvSpPr>
          <p:cNvPr id="42" name="Text 40"/>
          <p:cNvSpPr/>
          <p:nvPr/>
        </p:nvSpPr>
        <p:spPr>
          <a:xfrm>
            <a:off x="502920" y="2390503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USING ISOLATION FOREST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02920" y="3200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Overpaid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Underpaid NBA Players</a:t>
            </a:r>
            <a:b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 Trung Tran  - a1894661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8"/>
                </a:solidFill>
              </a:rPr>
              <a:t>Data Mining – Adelaide University|   Semester 1 - 2026   |   Isolation Forest · LOF · Python · Scikit-Learn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766560" y="2011680"/>
            <a:ext cx="1920240" cy="1920240"/>
          </a:xfrm>
          <a:prstGeom prst="ellipse">
            <a:avLst/>
          </a:prstGeom>
          <a:solidFill>
            <a:srgbClr val="3D6BF5">
              <a:alpha val="15000"/>
            </a:srgbClr>
          </a:solidFill>
          <a:ln w="1905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7178040" y="2423160"/>
            <a:ext cx="1097280" cy="1097280"/>
          </a:xfrm>
          <a:prstGeom prst="ellipse">
            <a:avLst/>
          </a:prstGeom>
          <a:solidFill>
            <a:srgbClr val="00C6FF">
              <a:alpha val="30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DECLARATION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0664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768096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95528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713232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68096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22960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13232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68096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95528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713232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68096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95528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822960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713232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740664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768096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795528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822960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685800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13232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740664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768096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795528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685800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713232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740664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768096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795528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822960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685800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768096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795528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822960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Declaration of Originality</a:t>
            </a:r>
            <a:endParaRPr lang="en-US" sz="2800" dirty="0"/>
          </a:p>
        </p:txBody>
      </p:sp>
      <p:sp>
        <p:nvSpPr>
          <p:cNvPr id="53" name="Shape 51"/>
          <p:cNvSpPr/>
          <p:nvPr/>
        </p:nvSpPr>
        <p:spPr>
          <a:xfrm>
            <a:off x="457200" y="1417320"/>
            <a:ext cx="8229600" cy="338328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822960" y="1600200"/>
            <a:ext cx="7406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my own individual work.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(Claude) was used to assist with code generation and analysis planning.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methods, processes, and results are fully understood and can be explained independently.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sourced from Kaggle — full citation provided in the References slide.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3D6BF5">
              <a:alpha val="15000"/>
            </a:srgbClr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56" name="Text 54"/>
          <p:cNvSpPr/>
          <p:nvPr/>
        </p:nvSpPr>
        <p:spPr>
          <a:xfrm>
            <a:off x="548640" y="4453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Salary Misallocation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188720"/>
          </a:xfrm>
          <a:prstGeom prst="rect">
            <a:avLst/>
          </a:prstGeom>
          <a:solidFill>
            <a:srgbClr val="1A2A5E"/>
          </a:solidFill>
          <a:ln w="190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</a:rPr>
              <a:t>$136M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23774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NBA Hard Salary Cap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(2022–23 Season)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solidFill>
            <a:srgbClr val="1A2A5E"/>
          </a:solidFill>
          <a:ln w="19050">
            <a:solidFill>
              <a:srgbClr val="FF4B6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4572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4B6E"/>
                </a:solidFill>
              </a:rPr>
              <a:t>$40–50M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2084832"/>
            <a:ext cx="23774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Annual Max Contract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(4–5 Years)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188720"/>
          </a:xfrm>
          <a:prstGeom prst="rect">
            <a:avLst/>
          </a:prstGeom>
          <a:solidFill>
            <a:srgbClr val="1A2A5E"/>
          </a:solidFill>
          <a:ln w="1905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56032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37744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$880K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084832"/>
            <a:ext cx="237744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Ben Simmons — Cost 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Game Played (2022–23)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1A2A5E"/>
          </a:solidFill>
          <a:ln w="1270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85800" y="2852928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166"/>
                </a:solidFill>
              </a:rPr>
              <a:t>"In 2023, Ben Simmons earned $37M for the Brooklyn Nets — playing 42 games at a role-player level. Meanwhile, players earning a fraction of that were contributing more wins."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overspent on one player reduces budget for the rest of the roster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negotiations are driven by reputation, highlights, and agent leverage — not pure performance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2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systematic, data-driven method exists to flag salary anomalies before signing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FRAMING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Mapping to a Data Mining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474720"/>
          </a:xfrm>
          <a:prstGeom prst="rect">
            <a:avLst/>
          </a:prstGeom>
          <a:solidFill>
            <a:srgbClr val="1A2A5E"/>
          </a:solidFill>
          <a:ln w="12700">
            <a:solidFill>
              <a:srgbClr val="FF4B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B6E"/>
                </a:solidFill>
              </a:rPr>
              <a:t>✗  NOT These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pre-labelled 'overpaid' examples — ground truth unknown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salary — we detect deviations, not predict values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FF4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(K-Means)</a:t>
            </a:r>
            <a:endParaRPr lang="en-US" sz="105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· requires knowing cluster count in advance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5303520" cy="3474720"/>
          </a:xfrm>
          <a:prstGeom prst="rect">
            <a:avLst/>
          </a:prstGeom>
          <a:solidFill>
            <a:srgbClr val="1A2A5E"/>
          </a:solidFill>
          <a:ln w="12700">
            <a:solidFill>
              <a:srgbClr val="00D4A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5303520" cy="45720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520440" y="1417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4"/>
                </a:solidFill>
              </a:rPr>
              <a:t>✓  Outlier / Anomaly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labels exist</a:t>
            </a:r>
            <a:endParaRPr lang="en-US" sz="1050" dirty="0"/>
          </a:p>
          <a:p>
            <a:pPr marL="711200" lvl="1" indent="-2540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certified 'overpaid' set — supervised learning not applicable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statistical deviations</a:t>
            </a:r>
            <a:endParaRPr lang="en-US" sz="1050" dirty="0"/>
          </a:p>
          <a:p>
            <a:pPr marL="711200" lvl="1" indent="-2540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players anomalous vs the salary-performance pattern of the whole league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Isolation Forest:</a:t>
            </a:r>
            <a:endParaRPr lang="en-US" sz="1050" dirty="0"/>
          </a:p>
          <a:p>
            <a:pPr marL="711200" lvl="1" indent="-2540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tabular data</a:t>
            </a:r>
            <a:endParaRPr lang="en-US" sz="1050" dirty="0"/>
          </a:p>
          <a:p>
            <a:pPr marL="711200" lvl="1" indent="-2540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normality assumption (salary is right-skewed)</a:t>
            </a:r>
            <a:endParaRPr lang="en-US" sz="1050" dirty="0"/>
          </a:p>
          <a:p>
            <a:pPr marL="711200" lvl="1" indent="-2540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time complexity — scales to 400+ players</a:t>
            </a:r>
            <a:endParaRPr lang="en-US" sz="1050" dirty="0"/>
          </a:p>
          <a:p>
            <a:pPr marL="711200" lvl="1" indent="-2540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distance-based methods (LOF) on global outliers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DESCRIPTION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NBA Player Salaries (2022–23 Season) by jamiewelsh2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1A2A5E"/>
          </a:solidFill>
          <a:ln w="19050">
            <a:solidFill>
              <a:srgbClr val="3D6BF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20240" cy="4572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6BF5"/>
                </a:solidFill>
              </a:rPr>
              <a:t>467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Raw Player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1005840"/>
          </a:xfrm>
          <a:prstGeom prst="rect">
            <a:avLst/>
          </a:prstGeom>
          <a:solidFill>
            <a:srgbClr val="1A2A5E"/>
          </a:solidFill>
          <a:ln w="19050">
            <a:solidFill>
              <a:srgbClr val="00C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20240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606040" y="15087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6FF"/>
                </a:solidFill>
              </a:rPr>
              <a:t>323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197510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After Filtering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(≥500 min)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1920240" cy="1005840"/>
          </a:xfrm>
          <a:prstGeom prst="rect">
            <a:avLst/>
          </a:prstGeom>
          <a:solidFill>
            <a:srgbClr val="1A2A5E"/>
          </a:solidFill>
          <a:ln w="1905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4572000" y="1371600"/>
            <a:ext cx="192024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17373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</a:rPr>
              <a:t>12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975104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Total Features Used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1371600"/>
            <a:ext cx="2377440" cy="1005840"/>
          </a:xfrm>
          <a:prstGeom prst="rect">
            <a:avLst/>
          </a:prstGeom>
          <a:solidFill>
            <a:srgbClr val="1A2A5E"/>
          </a:solidFill>
          <a:ln w="19050">
            <a:solidFill>
              <a:srgbClr val="00D4A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6629400" y="1371600"/>
            <a:ext cx="2377440" cy="45720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6720840" y="1508760"/>
            <a:ext cx="21945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4"/>
                </a:solidFill>
              </a:rPr>
              <a:t>$6.0M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75104"/>
            <a:ext cx="21945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8"/>
                </a:solidFill>
              </a:rPr>
              <a:t>Median Salary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4114800" cy="233172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64008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PTS · AST · TRB · MP
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</a:t>
            </a: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(Win Shares) · </a:t>
            </a:r>
            <a:r>
              <a:rPr lang="en-US" sz="1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(Player Efficiency Rating)
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Engineered: </a:t>
            </a: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salary_per_WS  ·  pts_per_dollar  ·  PER_salary_ratio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3931920" cy="233172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</a:rPr>
              <a:t>PREPROCESSING STEPS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9718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players with &lt; 500 minutes played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(insufficient sample size)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Log-transformed salary
(right-skewed distribution)
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all features with StandardScaler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A2A5E"/>
          </a:solidFill>
          <a:ln w="12700">
            <a:solidFill>
              <a:srgbClr val="8FA3C8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02920" y="46451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[ IMAGE PLACEHOLDER — Insert: salary_distribution.png  +  stats_distribution.png 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Method: Isolation Forest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Ting &amp; Zhou (2008)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A2A5E"/>
          </a:solidFill>
          <a:ln w="12700">
            <a:solidFill>
              <a:srgbClr val="00C6FF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6FF"/>
                </a:solidFill>
              </a:rPr>
              <a:t>Core Idea: Anomalies are easier to isolate than normal points — they require fewer random cuts.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011680" cy="260604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143000" y="2331720"/>
            <a:ext cx="640080" cy="640080"/>
          </a:xfrm>
          <a:prstGeom prst="ellipse">
            <a:avLst/>
          </a:prstGeom>
          <a:solidFill>
            <a:srgbClr val="3D6BF5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1430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Trees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8"/>
                </a:solidFill>
              </a:rPr>
              <a:t>Build 200 isolation trees; each tree is trained on a random subset of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2240280"/>
            <a:ext cx="2011680" cy="260604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291840" y="2331720"/>
            <a:ext cx="640080" cy="640080"/>
          </a:xfrm>
          <a:prstGeom prst="ellipse">
            <a:avLst/>
          </a:prstGeom>
          <a:solidFill>
            <a:srgbClr val="3D6BF5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9748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Splits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8"/>
                </a:solidFill>
              </a:rPr>
              <a:t>Randomly pick a feature and a split value between min and max; partition data left/right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2011680" cy="260604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440680" y="2331720"/>
            <a:ext cx="640080" cy="640080"/>
          </a:xfrm>
          <a:prstGeom prst="ellipse">
            <a:avLst/>
          </a:prstGeom>
          <a:solidFill>
            <a:srgbClr val="3D6BF5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4406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463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Path Length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8"/>
                </a:solidFill>
              </a:rPr>
              <a:t>Count splits needed to isolate each point — short path = anomaly; long path = normal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03720" y="2240280"/>
            <a:ext cx="2011680" cy="260604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589520" y="2331720"/>
            <a:ext cx="640080" cy="640080"/>
          </a:xfrm>
          <a:prstGeom prst="ellipse">
            <a:avLst/>
          </a:prstGeom>
          <a:solidFill>
            <a:srgbClr val="3D6BF5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5895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Anomaly Score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3474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EF8"/>
                </a:solidFill>
              </a:rPr>
              <a:t>Average path length across all trees; players below contamination threshold (10%) are flagged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1A2A5E"/>
          </a:solidFill>
          <a:ln w="12700">
            <a:solidFill>
              <a:srgbClr val="13204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40080" y="46634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  n_estimators = 200   ·   contamination = 0.10   ·   max_samples = auto (256)   ·   random_state = 42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PROCEDURE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 Procedure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94360" cy="685800"/>
          </a:xfrm>
          <a:prstGeom prst="rect">
            <a:avLst/>
          </a:prstGeom>
          <a:solidFill>
            <a:srgbClr val="3D6BF5">
              <a:alpha val="80000"/>
            </a:srgbClr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6BF5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26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Load &amp; Inspect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737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Check shape, dtypes, missing values, distributions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0" cy="731520"/>
          </a:xfrm>
          <a:prstGeom prst="line">
            <a:avLst/>
          </a:prstGeom>
          <a:noFill/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800600" y="1417320"/>
            <a:ext cx="594360" cy="685800"/>
          </a:xfrm>
          <a:prstGeom prst="rect">
            <a:avLst/>
          </a:prstGeom>
          <a:solidFill>
            <a:srgbClr val="00C6FF">
              <a:alpha val="80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800600" y="14173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58968" y="1426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Filter &amp; Merge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58968" y="1737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Remove players with &lt; 500 MP; handle traded player duplicates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594360" cy="68580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340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2651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Create salary_per_WS, pts_per_dollar, PER_salary_ratio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2331720"/>
            <a:ext cx="0" cy="731520"/>
          </a:xfrm>
          <a:prstGeom prst="line">
            <a:avLst/>
          </a:prstGeom>
          <a:noFill/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594360" cy="685800"/>
          </a:xfrm>
          <a:prstGeom prst="rect">
            <a:avLst/>
          </a:prstGeom>
          <a:solidFill>
            <a:srgbClr val="00D4A4">
              <a:alpha val="80000"/>
            </a:srgbClr>
          </a:solidFill>
          <a:ln w="12700">
            <a:solidFill>
              <a:srgbClr val="00D4A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4800600" y="23317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4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58968" y="23408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 &amp; Scale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58968" y="2651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Log-transform salary; StandardScaler on all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594360" cy="685800"/>
          </a:xfrm>
          <a:prstGeom prst="rect">
            <a:avLst/>
          </a:prstGeom>
          <a:solidFill>
            <a:srgbClr val="3D6BF5">
              <a:alpha val="80000"/>
            </a:srgbClr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57200" y="32461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6BF5"/>
                </a:solidFill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Isolation Forest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3566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n_estimators=200, contamination=0.10; extract anomaly scores &amp; labels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3246120"/>
            <a:ext cx="0" cy="731520"/>
          </a:xfrm>
          <a:prstGeom prst="line">
            <a:avLst/>
          </a:prstGeom>
          <a:noFill/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4800600" y="3246120"/>
            <a:ext cx="594360" cy="685800"/>
          </a:xfrm>
          <a:prstGeom prst="rect">
            <a:avLst/>
          </a:prstGeom>
          <a:solidFill>
            <a:srgbClr val="00C6FF">
              <a:alpha val="80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4800600" y="32461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6F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58968" y="32552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Sensitivity Test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58968" y="3566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Repeat at contamination = 0.05, 0.15, 0.20 — validate robustness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594360" cy="68580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457200" y="4160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15568" y="4169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LOF Comparison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5568" y="4480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Train LocalOutlierFactor (n_neighbors=20); compare flagged players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26280" y="4160520"/>
            <a:ext cx="0" cy="731520"/>
          </a:xfrm>
          <a:prstGeom prst="line">
            <a:avLst/>
          </a:prstGeom>
          <a:noFill/>
          <a:ln w="12700">
            <a:solidFill>
              <a:srgbClr val="1A2A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4800600" y="4160520"/>
            <a:ext cx="594360" cy="685800"/>
          </a:xfrm>
          <a:prstGeom prst="rect">
            <a:avLst/>
          </a:prstGeom>
          <a:solidFill>
            <a:srgbClr val="00D4A4">
              <a:alpha val="80000"/>
            </a:srgbClr>
          </a:solidFill>
          <a:ln w="12700">
            <a:solidFill>
              <a:srgbClr val="00D4A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4800600" y="41605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4"/>
                </a:solidFill>
              </a:rPr>
              <a:t>08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58968" y="4169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Visualise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58968" y="4480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3C8"/>
                </a:solidFill>
              </a:rPr>
              <a:t>Scatter plots: WS vs Salary, PER vs Salary; label top anomalies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Results: Flagged Salary Anomalies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323 players, contamination = 0.10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352044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3C8"/>
                </a:solidFill>
              </a:rPr>
              <a:t>[ IMAGE PLACEHOLDER 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FA3C8"/>
                </a:solidFill>
              </a:rPr>
              <a:t>Insert: IF_ws_vs_salary.png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FA3C8"/>
                </a:solidFill>
              </a:rPr>
              <a:t>or IF_per_vs_salary.png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FA3C8"/>
                </a:solidFill>
              </a:rPr>
              <a:t>🔴 Red = Outlier  🔵 Blue = Normal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8FA3C8"/>
                </a:solidFill>
              </a:rPr>
              <a:t>Player names labelled on top anomalies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291840" cy="1600200"/>
          </a:xfrm>
          <a:prstGeom prst="rect">
            <a:avLst/>
          </a:prstGeom>
          <a:solidFill>
            <a:srgbClr val="1A2A5E"/>
          </a:solidFill>
          <a:ln w="12700">
            <a:solidFill>
              <a:srgbClr val="FF4B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291840" cy="4572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80644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B6E"/>
                </a:solidFill>
              </a:rPr>
              <a:t>🔴  TOP OVERPAID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783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 Wall   $47.3M  —  WS: 0.3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 Westbrook  $47.1M  —  WS: 1.9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 Simmons  $35.4M  —  WS: 2.2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LeBron James  $44.5M  —  WS: 5.6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3108960"/>
            <a:ext cx="3291840" cy="1783080"/>
          </a:xfrm>
          <a:prstGeom prst="rect">
            <a:avLst/>
          </a:prstGeom>
          <a:solidFill>
            <a:srgbClr val="1A2A5E"/>
          </a:solidFill>
          <a:ln w="12700">
            <a:solidFill>
              <a:srgbClr val="00D4A4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5669280" y="3108960"/>
            <a:ext cx="3291840" cy="45720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80644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4"/>
                </a:solidFill>
              </a:rPr>
              <a:t>🟢  TOP UNDERPAID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Desmond Bane  $2.1M  —  WS: 5.8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Walker Kessler  $2.7M  —  WS: 7.1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Tyrese Maxey  $2.7M  —  WS: 5.4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Anthony Lamb  $0.7M  —  WS: 2.4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Isolation Forest flagged 33 outliers (10.2% of filtered dataset)  ·  LOF agreed on 19 of 33 cases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Supporting Visualisations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17373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[ IMAGE ]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salary_vs_ws_raw.png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724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Salary vs Win Shares (raw, pre-model)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17373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3383280" y="150876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[ IMAGE ]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correlation_heatmap.png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2724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Feature Correlation Heatmap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97480" cy="17373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309360" y="150876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[ IMAGE ]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IF_vs_LOF_comparison.png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272491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Isolation Forest vs LOF — Agreement Map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2697480" cy="17373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[ IMAGE ]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anomaly_score_distribution.png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6451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Anomaly Score Distribution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2697480" cy="173736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383280" y="342900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[ IMAGE ]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8FA3C8"/>
                </a:solidFill>
              </a:rPr>
              <a:t>salary_per_ws.png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46451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6FF"/>
                </a:solidFill>
              </a:rPr>
              <a:t>Engineered Feature: Salary per Win Share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1A2A5E"/>
          </a:solidFill>
          <a:ln w="1270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Domain Knowledge Check — LeBron James (#5 Flagged Overpaid)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$44.5M salary, WS: 5.6 → $6.7M per win — flagged as overpaid by model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27 games missed (injury); then led Lakers from 2-10 to Western Conference Finals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data-driven does not mean data-only — human judgment must complement algorithmic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214884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114800" cy="4572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</a:rPr>
              <a:t>IF vs LOF Comparison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agree on 19/33 flagged — strongest anomaly cases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IF-only (14): global outliers — extreme salaries far from median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LOF-only (14): local density anomalies IF missed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better suited here — NBA salary outliers are global, not local density effects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931920" cy="2148840"/>
          </a:xfrm>
          <a:prstGeom prst="rect">
            <a:avLst/>
          </a:prstGeom>
          <a:solidFill>
            <a:srgbClr val="1A2A5E"/>
          </a:solidFill>
          <a:ln w="12700">
            <a:solidFill>
              <a:srgbClr val="FF4B6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3931920" cy="45720"/>
          </a:xfrm>
          <a:prstGeom prst="rect">
            <a:avLst/>
          </a:prstGeom>
          <a:solidFill>
            <a:srgbClr val="FF4B6E"/>
          </a:solidFill>
          <a:ln w="12700">
            <a:solidFill>
              <a:srgbClr val="FF4B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B6E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2004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Single-season only — does not reflect multi-year contract context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reflects future potential, not just current stats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is a counting stat — injury reduces accumulation even if per-game impact is elite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Intangibles (leadership, marketability) are invisible to the model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1A2A5E"/>
          </a:solidFill>
          <a:ln w="12700">
            <a:solidFill>
              <a:srgbClr val="3D6BF5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successfully identified 33 statistically anomalous salary cases (10.2% of filtered dataset)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flagged overpaid players (Wall, Westbrook, Simmons) align with publicly known cases — validating the approach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underpaid players are mostly on rookie-scale contracts — a structural CBA limitation, not a market failure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IF and LOF produces more robust conclusions — consensus cases (19/33) are the strongest anomaly candidates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8229600" cy="141732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FF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multi-season data to capture career trajectory and contract context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injury history as a feature to separate injury-driven anomalies from true overpayment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values to explain which features drive each player's anomaly score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analysis by position — centre vs guard salary norms differ significantly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3C8"/>
                </a:solidFill>
              </a:rPr>
              <a:t>Isolation Forest provides an objective, scalable framework for salary anomaly detection — a data-driven complement to subjective front-office 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7132320" y="137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740664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768096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95528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85800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713232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740664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768096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95528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8229600" y="7315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713232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740664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68096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95528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8229600" y="10058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685800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713232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740664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68096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95528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8229600" y="128016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713232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740664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768096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795528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8229600" y="155448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685800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713232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740664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768096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795528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8229600" y="182880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685800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713232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740664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768096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795528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8229600" y="210312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685800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713232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740664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768096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795528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8229600" y="2377440"/>
            <a:ext cx="36576" cy="36576"/>
          </a:xfrm>
          <a:prstGeom prst="ellipse">
            <a:avLst/>
          </a:prstGeom>
          <a:solidFill>
            <a:srgbClr val="3D6BF5">
              <a:alpha val="40000"/>
            </a:srgbClr>
          </a:solidFill>
          <a:ln w="12700">
            <a:solidFill>
              <a:srgbClr val="3D6B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3" name="Shape 51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457200" y="1417320"/>
            <a:ext cx="54864" cy="7772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5943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DATASET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4360" y="17373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jamiewelsh2 (2023). NBA Player Salaries (2022–23 Season). Kaggle.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https://www.kaggle.com/datasets/jamiewelsh2/nba-player-salaries-2022-23-season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2313432"/>
            <a:ext cx="8229600" cy="77724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8" name="Shape 56"/>
          <p:cNvSpPr/>
          <p:nvPr/>
        </p:nvSpPr>
        <p:spPr>
          <a:xfrm>
            <a:off x="457200" y="2313432"/>
            <a:ext cx="54864" cy="7772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59436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4360" y="2633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F.T., Ting, K.M., &amp; Zhou, Z.H. (2008). Isolation Forest. 2008 Eighth IEEE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Data Mining, pp. 413–422.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" y="3209544"/>
            <a:ext cx="8229600" cy="77724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457200" y="3209544"/>
            <a:ext cx="54864" cy="7772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594360" y="3255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LIBRARY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4360" y="35295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Pedregosa, F., et al. (2011). Scikit-learn: Machine Learning in Python.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Machine Learning Research, 12, 2825–2830.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7200" y="4105656"/>
            <a:ext cx="8229600" cy="777240"/>
          </a:xfrm>
          <a:prstGeom prst="rect">
            <a:avLst/>
          </a:prstGeom>
          <a:solidFill>
            <a:srgbClr val="1A2A5E"/>
          </a:solidFill>
          <a:ln w="12700">
            <a:solidFill>
              <a:srgbClr val="1A2A5E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6" name="Shape 64"/>
          <p:cNvSpPr/>
          <p:nvPr/>
        </p:nvSpPr>
        <p:spPr>
          <a:xfrm>
            <a:off x="457200" y="4105656"/>
            <a:ext cx="54864" cy="777240"/>
          </a:xfrm>
          <a:prstGeom prst="rect">
            <a:avLst/>
          </a:prstGeom>
          <a:solidFill>
            <a:srgbClr val="3D6BF5"/>
          </a:solidFill>
          <a:ln w="12700">
            <a:solidFill>
              <a:srgbClr val="3D6BF5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Text 65"/>
          <p:cNvSpPr/>
          <p:nvPr/>
        </p:nvSpPr>
        <p:spPr>
          <a:xfrm>
            <a:off x="594360" y="41513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STATS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4360" y="44256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 Reference (2023). 2022–23 NBA Player Stats.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https://www.basketball-reference.com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1429</Words>
  <Application>Microsoft Office PowerPoint</Application>
  <PresentationFormat>On-screen Show (16:9)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Nam Trung Tran (Student)</cp:lastModifiedBy>
  <cp:revision>2</cp:revision>
  <dcterms:created xsi:type="dcterms:W3CDTF">2026-05-24T09:01:53Z</dcterms:created>
  <dcterms:modified xsi:type="dcterms:W3CDTF">2026-05-24T13:24:18Z</dcterms:modified>
</cp:coreProperties>
</file>