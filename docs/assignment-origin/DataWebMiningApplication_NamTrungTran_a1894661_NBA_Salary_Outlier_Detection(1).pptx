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4706" autoAdjust="0"/>
  </p:normalViewPr>
  <p:slideViewPr>
    <p:cSldViewPr snapToGrid="0" snapToObjects="1">
      <p:cViewPr varScale="1">
        <p:scale>
          <a:sx n="70" d="100"/>
          <a:sy n="70" d="100"/>
        </p:scale>
        <p:origin x="18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7341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Today I will be presenting my data mining application focused on detecting salary anomalies in the NBA using an unsupervised Isolation Forest approach.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Before I would want to declare that this project is my own individual work. And I also used GenAI to assist with code optimization and structuring my analysis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rtl="0"/>
            <a:r>
              <a:rPr lang="en-AU" sz="1200" b="0" i="0" u="none" strike="noStrike" kern="1200" dirty="0">
                <a:solidFill>
                  <a:schemeClr val="tx1"/>
                </a:solidFill>
                <a:effectLst/>
                <a:latin typeface="+mn-lt"/>
                <a:ea typeface="+mn-ea"/>
                <a:cs typeface="+mn-cs"/>
              </a:rPr>
              <a:t>First, let’s look at the real problem. In the 2022–23 NBA season, Ben Simmons was paid 37 million dollars by the Brooklyn Nets while appearing in only 42 games. That equates to roughly 880,000 dollars per game played, with just a standard role-player performance.</a:t>
            </a:r>
            <a:endParaRPr lang="en-AU" b="0" dirty="0">
              <a:effectLst/>
            </a:endParaRPr>
          </a:p>
          <a:p>
            <a:br>
              <a:rPr lang="en-AU" b="0" dirty="0">
                <a:effectLst/>
              </a:rPr>
            </a:br>
            <a:endParaRPr lang="en-AU" b="0" dirty="0">
              <a:effectLst/>
            </a:endParaRPr>
          </a:p>
          <a:p>
            <a:pPr rtl="0"/>
            <a:r>
              <a:rPr lang="en-AU" sz="1200" b="0" i="0" u="none" strike="noStrike" kern="1200" dirty="0">
                <a:solidFill>
                  <a:schemeClr val="tx1"/>
                </a:solidFill>
                <a:effectLst/>
                <a:latin typeface="+mn-lt"/>
                <a:ea typeface="+mn-ea"/>
                <a:cs typeface="+mn-cs"/>
              </a:rPr>
              <a:t>This highlights an issue for front offices. NBA teams operate under a strict salary cap every year. Every dollar overspent on one player means less budget to build the rest of the team. And right now, player salaries are negotiated based on reputation, highlights, and agent leverage, not purely on performance data.</a:t>
            </a:r>
            <a:endParaRPr lang="en-AU" b="0" dirty="0">
              <a:effectLst/>
            </a:endParaRPr>
          </a:p>
          <a:p>
            <a:pPr rtl="0"/>
            <a:r>
              <a:rPr lang="en-AU" sz="1200" b="0" i="0" u="none" strike="noStrike" kern="1200" dirty="0">
                <a:solidFill>
                  <a:schemeClr val="tx1"/>
                </a:solidFill>
                <a:effectLst/>
                <a:latin typeface="+mn-lt"/>
                <a:ea typeface="+mn-ea"/>
                <a:cs typeface="+mn-cs"/>
              </a:rPr>
              <a:t>&gt; A single bad max contract can literally cripple a franchise for half a decade.</a:t>
            </a:r>
            <a:endParaRPr lang="en-AU" b="0" dirty="0">
              <a:effectLst/>
            </a:endParaRPr>
          </a:p>
          <a:p>
            <a:r>
              <a:rPr lang="en-AU" sz="1200" b="0" i="0" u="none" strike="noStrike" kern="1200" dirty="0">
                <a:solidFill>
                  <a:schemeClr val="tx1"/>
                </a:solidFill>
                <a:effectLst/>
                <a:latin typeface="+mn-lt"/>
                <a:ea typeface="+mn-ea"/>
                <a:cs typeface="+mn-cs"/>
              </a:rPr>
              <a:t>&gt; So the question is: can we build a data driven system that flags these salary anomalies? That's exactly what I’m </a:t>
            </a:r>
            <a:r>
              <a:rPr lang="en-AU" sz="1200" b="0" i="0" u="none" strike="noStrike" kern="1200" dirty="0" err="1">
                <a:solidFill>
                  <a:schemeClr val="tx1"/>
                </a:solidFill>
                <a:effectLst/>
                <a:latin typeface="+mn-lt"/>
                <a:ea typeface="+mn-ea"/>
                <a:cs typeface="+mn-cs"/>
              </a:rPr>
              <a:t>gonna</a:t>
            </a:r>
            <a:r>
              <a:rPr lang="en-AU" sz="1200" b="0" i="0" u="none" strike="noStrike" kern="1200" dirty="0">
                <a:solidFill>
                  <a:schemeClr val="tx1"/>
                </a:solidFill>
                <a:effectLst/>
                <a:latin typeface="+mn-lt"/>
                <a:ea typeface="+mn-ea"/>
                <a:cs typeface="+mn-cs"/>
              </a:rPr>
              <a:t> do in this project.</a:t>
            </a:r>
            <a:br>
              <a:rPr lang="en-AU" sz="1200" b="0" i="0" u="none" strike="noStrike"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rtl="0"/>
            <a:r>
              <a:rPr lang="en-AU" sz="1200" b="0" i="0" u="none" strike="noStrike" kern="1200" dirty="0">
                <a:solidFill>
                  <a:schemeClr val="tx1"/>
                </a:solidFill>
                <a:effectLst/>
                <a:latin typeface="+mn-lt"/>
                <a:ea typeface="+mn-ea"/>
                <a:cs typeface="+mn-cs"/>
              </a:rPr>
              <a:t>we want to detect who deviates from the pattern of the league.</a:t>
            </a:r>
            <a:endParaRPr lang="en-AU" b="0" dirty="0">
              <a:effectLst/>
            </a:endParaRPr>
          </a:p>
          <a:p>
            <a:pPr rtl="0"/>
            <a:r>
              <a:rPr lang="en-AU" sz="1200" b="0" i="0" u="none" strike="noStrike" kern="1200" dirty="0">
                <a:solidFill>
                  <a:schemeClr val="tx1"/>
                </a:solidFill>
                <a:effectLst/>
                <a:latin typeface="+mn-lt"/>
                <a:ea typeface="+mn-ea"/>
                <a:cs typeface="+mn-cs"/>
              </a:rPr>
              <a:t>That is why outlier detection through unsupervised anomaly discovery is the right approach. I selected the **Isolation Forest** algorithm as it is effective for tabular data, makes zero assumptions about distributions, and it is computationally efficient.</a:t>
            </a:r>
            <a:endParaRPr lang="en-AU" b="0" dirty="0">
              <a:effectLst/>
            </a:endParaRPr>
          </a:p>
          <a:p>
            <a:br>
              <a:rPr lang="en-AU"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Log_salary</a:t>
            </a:r>
            <a:r>
              <a:rPr lang="en-US" dirty="0"/>
              <a:t>, pts, </a:t>
            </a:r>
            <a:r>
              <a:rPr lang="en-US" dirty="0" err="1"/>
              <a:t>ast</a:t>
            </a:r>
            <a:r>
              <a:rPr lang="en-US" dirty="0"/>
              <a:t>, total rebounds, win shares, player efficiency rating (PER), </a:t>
            </a:r>
            <a:r>
              <a:rPr lang="en-US" dirty="0" err="1"/>
              <a:t>usg</a:t>
            </a:r>
            <a:r>
              <a:rPr lang="en-US" dirty="0"/>
              <a:t>% (what % of team plays a player involve, bpm box plus-minus, value over replacement </a:t>
            </a:r>
            <a:r>
              <a:rPr lang="en-US" dirty="0" err="1"/>
              <a:t>player:total</a:t>
            </a:r>
            <a:r>
              <a:rPr lang="en-US" dirty="0"/>
              <a:t> contribution, </a:t>
            </a:r>
            <a:r>
              <a:rPr lang="en-US" dirty="0" err="1"/>
              <a:t>salaryperws</a:t>
            </a:r>
            <a:r>
              <a:rPr lang="en-US" dirty="0"/>
              <a:t>, pts per dollar, per salary ratio.</a:t>
            </a:r>
          </a:p>
          <a:p>
            <a:br>
              <a:rPr lang="en-US" dirty="0"/>
            </a:br>
            <a:r>
              <a:rPr lang="en-AU" sz="1200" b="0" i="0" u="none" strike="noStrike" kern="1200" dirty="0">
                <a:solidFill>
                  <a:schemeClr val="tx1"/>
                </a:solidFill>
                <a:effectLst/>
                <a:latin typeface="+mn-lt"/>
                <a:ea typeface="+mn-ea"/>
                <a:cs typeface="+mn-cs"/>
              </a:rPr>
              <a:t>Now Win Shares is a metric that estimates total wins a player contributes to their team by combining both offensive and defensive performance into 1 number. Conversely, PER—Player Efficiency Rating—is a per-minute measure of total productivity, normalized to a league baseline of 15. I also engineered some more features to formally assess this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rtl="0"/>
            <a:r>
              <a:rPr lang="en-AU" sz="1200" b="0" i="0" u="none" strike="noStrike" kern="1200" dirty="0">
                <a:solidFill>
                  <a:schemeClr val="tx1"/>
                </a:solidFill>
                <a:effectLst/>
                <a:latin typeface="+mn-lt"/>
                <a:ea typeface="+mn-ea"/>
                <a:cs typeface="+mn-cs"/>
              </a:rPr>
              <a:t>Imagine you are in a room of 350 people, and you want to find the odd one out. A normal person blends in. You would need to ask many questions to single them out. But someone truly unusual? You identify them almost immediately.</a:t>
            </a:r>
            <a:endParaRPr lang="en-AU" b="0" dirty="0">
              <a:effectLst/>
            </a:endParaRPr>
          </a:p>
          <a:p>
            <a:br>
              <a:rPr lang="en-AU" dirty="0"/>
            </a:br>
            <a:br>
              <a:rPr lang="en-AU" sz="1200" b="0" i="0" u="none" strike="noStrike" kern="1200" dirty="0">
                <a:solidFill>
                  <a:schemeClr val="tx1"/>
                </a:solidFill>
                <a:effectLst/>
                <a:latin typeface="+mn-lt"/>
                <a:ea typeface="+mn-ea"/>
                <a:cs typeface="+mn-cs"/>
              </a:rPr>
            </a:br>
            <a:r>
              <a:rPr lang="en-AU" sz="1200" b="0" i="0" u="none" strike="noStrike" kern="1200" dirty="0">
                <a:solidFill>
                  <a:schemeClr val="tx1"/>
                </a:solidFill>
                <a:effectLst/>
                <a:latin typeface="+mn-lt"/>
                <a:ea typeface="+mn-ea"/>
                <a:cs typeface="+mn-cs"/>
              </a:rPr>
              <a:t>Isolation Forest works the same by constructing an ensemble of random trees—I specified 200 trees. Each tree isolates data points by randomly picking a feature, randomly selecting a split value between the min and max, and partitioning the space. </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The key metric is **path length**, how many splits it took to isolate this point. A short path means the point was isolated quickly, which means it is an anomaly. A long path means the point blends in with many others, which means it is normal. </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By averaging path lengths across all 200 trees, we extract an anomaly score. </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I configured the contamination parameter to 10 percent, expecting roughly 10 percent of the league salary to be anomalies.</a:t>
            </a:r>
            <a:endParaRPr lang="en-AU" b="0" dirty="0">
              <a:effectLst/>
            </a:endParaRPr>
          </a:p>
          <a:p>
            <a:br>
              <a:rPr lang="en-AU"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rtl="0"/>
            <a:r>
              <a:rPr lang="en-AU" sz="1200" b="0" i="0" u="none" strike="noStrike" kern="1200" dirty="0">
                <a:solidFill>
                  <a:schemeClr val="tx1"/>
                </a:solidFill>
                <a:effectLst/>
                <a:latin typeface="+mn-lt"/>
                <a:ea typeface="+mn-ea"/>
                <a:cs typeface="+mn-cs"/>
              </a:rPr>
              <a:t>Let’s look at the final results. The red points show 33 players flagged as outliers by the Isolation Forest.</a:t>
            </a:r>
          </a:p>
          <a:p>
            <a:pPr rtl="0"/>
            <a:endParaRPr lang="en-AU" b="0" dirty="0">
              <a:effectLst/>
            </a:endParaRPr>
          </a:p>
          <a:p>
            <a:pPr rtl="0"/>
            <a:r>
              <a:rPr lang="en-AU" sz="1200" b="0" i="0" u="none" strike="noStrike" kern="1200" dirty="0">
                <a:solidFill>
                  <a:schemeClr val="tx1"/>
                </a:solidFill>
                <a:effectLst/>
                <a:latin typeface="+mn-lt"/>
                <a:ea typeface="+mn-ea"/>
                <a:cs typeface="+mn-cs"/>
              </a:rPr>
              <a:t>The model immediately identified clear operational anomalies. Under the **Top Overpaid** category, John Wall emerges as an extreme outlier; with 47.3 million dollar salary while contributing 0.3 Win Shares—costing over 36 million dollars per win. Russell Westbrook followed a similar profile: 47 million dollars in salary against just 1.9 Win Shares. </a:t>
            </a:r>
          </a:p>
          <a:p>
            <a:pPr rtl="0"/>
            <a:endParaRPr lang="en-AU" b="0" dirty="0">
              <a:effectLst/>
            </a:endParaRPr>
          </a:p>
          <a:p>
            <a:pPr rtl="0"/>
            <a:r>
              <a:rPr lang="en-AU" sz="1200" b="0" i="0" u="none" strike="noStrike" kern="1200" dirty="0">
                <a:solidFill>
                  <a:schemeClr val="tx1"/>
                </a:solidFill>
                <a:effectLst/>
                <a:latin typeface="+mn-lt"/>
                <a:ea typeface="+mn-ea"/>
                <a:cs typeface="+mn-cs"/>
              </a:rPr>
              <a:t>On the other hand, our **Top Underpaid** category has Desmond Bane contributed 5.8 Win Shares on a </a:t>
            </a:r>
            <a:r>
              <a:rPr lang="en-AU" sz="1200" b="0" i="0" u="none" strike="noStrike" kern="1200" dirty="0" err="1">
                <a:solidFill>
                  <a:schemeClr val="tx1"/>
                </a:solidFill>
                <a:effectLst/>
                <a:latin typeface="+mn-lt"/>
                <a:ea typeface="+mn-ea"/>
                <a:cs typeface="+mn-cs"/>
              </a:rPr>
              <a:t>meager</a:t>
            </a:r>
            <a:r>
              <a:rPr lang="en-AU" sz="1200" b="0" i="0" u="none" strike="noStrike" kern="1200" dirty="0">
                <a:solidFill>
                  <a:schemeClr val="tx1"/>
                </a:solidFill>
                <a:effectLst/>
                <a:latin typeface="+mn-lt"/>
                <a:ea typeface="+mn-ea"/>
                <a:cs typeface="+mn-cs"/>
              </a:rPr>
              <a:t> 2.1 million dollar rookie contract, while Walker Kessler yielded an elite 7.1 Win Shares for just 2.7 million dollars.</a:t>
            </a:r>
            <a:endParaRPr lang="en-AU" b="0" dirty="0">
              <a:effectLst/>
            </a:endParaRPr>
          </a:p>
          <a:p>
            <a:br>
              <a:rPr lang="en-AU"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rtl="0"/>
            <a:r>
              <a:rPr lang="en-AU" sz="1200" b="0" i="0" u="none" strike="noStrike" kern="1200" dirty="0">
                <a:solidFill>
                  <a:schemeClr val="tx1"/>
                </a:solidFill>
                <a:effectLst/>
                <a:latin typeface="+mn-lt"/>
                <a:ea typeface="+mn-ea"/>
                <a:cs typeface="+mn-cs"/>
              </a:rPr>
              <a:t>As mentioned above, I also use Local Outlier Factor as a comparison model with regards to Isolation Forest.  </a:t>
            </a:r>
          </a:p>
          <a:p>
            <a:pPr rtl="0"/>
            <a:endParaRPr lang="en-AU" b="0" dirty="0">
              <a:effectLst/>
            </a:endParaRPr>
          </a:p>
          <a:p>
            <a:pPr rtl="0"/>
            <a:r>
              <a:rPr lang="en-AU" sz="1200" b="0" i="0" u="none" strike="noStrike" kern="1200" dirty="0">
                <a:solidFill>
                  <a:schemeClr val="tx1"/>
                </a:solidFill>
                <a:effectLst/>
                <a:latin typeface="+mn-lt"/>
                <a:ea typeface="+mn-ea"/>
                <a:cs typeface="+mn-cs"/>
              </a:rPr>
              <a:t>**Local Outlier Factor (LOF)** calculates **local outliers** by evaluating local </a:t>
            </a:r>
            <a:r>
              <a:rPr lang="en-AU" sz="1200" b="0" i="0" u="none" strike="noStrike" kern="1200" dirty="0" err="1">
                <a:solidFill>
                  <a:schemeClr val="tx1"/>
                </a:solidFill>
                <a:effectLst/>
                <a:latin typeface="+mn-lt"/>
                <a:ea typeface="+mn-ea"/>
                <a:cs typeface="+mn-cs"/>
              </a:rPr>
              <a:t>neighborhood</a:t>
            </a:r>
            <a:r>
              <a:rPr lang="en-AU" sz="1200" b="0" i="0" u="none" strike="noStrike" kern="1200" dirty="0">
                <a:solidFill>
                  <a:schemeClr val="tx1"/>
                </a:solidFill>
                <a:effectLst/>
                <a:latin typeface="+mn-lt"/>
                <a:ea typeface="+mn-ea"/>
                <a:cs typeface="+mn-cs"/>
              </a:rPr>
              <a:t> densities against 20 nearest </a:t>
            </a:r>
            <a:r>
              <a:rPr lang="en-AU" sz="1200" b="0" i="0" u="none" strike="noStrike" kern="1200" dirty="0" err="1">
                <a:solidFill>
                  <a:schemeClr val="tx1"/>
                </a:solidFill>
                <a:effectLst/>
                <a:latin typeface="+mn-lt"/>
                <a:ea typeface="+mn-ea"/>
                <a:cs typeface="+mn-cs"/>
              </a:rPr>
              <a:t>neighbors</a:t>
            </a:r>
            <a:r>
              <a:rPr lang="en-AU" sz="1200" b="0" i="0" u="none" strike="noStrike" kern="1200" dirty="0">
                <a:solidFill>
                  <a:schemeClr val="tx1"/>
                </a:solidFill>
                <a:effectLst/>
                <a:latin typeface="+mn-lt"/>
                <a:ea typeface="+mn-ea"/>
                <a:cs typeface="+mn-cs"/>
              </a:rPr>
              <a:t>.</a:t>
            </a:r>
          </a:p>
          <a:p>
            <a:pPr rtl="0"/>
            <a:endParaRPr lang="en-AU" b="0" dirty="0">
              <a:effectLst/>
            </a:endParaRPr>
          </a:p>
          <a:p>
            <a:pPr rtl="0"/>
            <a:r>
              <a:rPr lang="en-AU" sz="1200" b="0" i="0" u="none" strike="noStrike" kern="1200" dirty="0">
                <a:solidFill>
                  <a:schemeClr val="tx1"/>
                </a:solidFill>
                <a:effectLst/>
                <a:latin typeface="+mn-lt"/>
                <a:ea typeface="+mn-ea"/>
                <a:cs typeface="+mn-cs"/>
              </a:rPr>
              <a:t>The 2 models only agreed on 19 players. 14 players were entirely unique to each method.</a:t>
            </a:r>
          </a:p>
          <a:p>
            <a:pPr rtl="0"/>
            <a:endParaRPr lang="en-AU" b="0" dirty="0">
              <a:effectLst/>
            </a:endParaRPr>
          </a:p>
          <a:p>
            <a:pPr rtl="0"/>
            <a:r>
              <a:rPr lang="en-AU" sz="1200" b="0" i="0" u="none" strike="noStrike" kern="1200" dirty="0">
                <a:solidFill>
                  <a:schemeClr val="tx1"/>
                </a:solidFill>
                <a:effectLst/>
                <a:latin typeface="+mn-lt"/>
                <a:ea typeface="+mn-ea"/>
                <a:cs typeface="+mn-cs"/>
              </a:rPr>
              <a:t>This divergence happens because **Isolation Forest** targets **global outliers**, regardless of local density. It asks: Which players are most different from everyone else?</a:t>
            </a:r>
          </a:p>
          <a:p>
            <a:pPr rtl="0"/>
            <a:endParaRPr lang="en-AU" b="0" dirty="0">
              <a:effectLst/>
            </a:endParaRPr>
          </a:p>
          <a:p>
            <a:pPr rtl="0"/>
            <a:r>
              <a:rPr lang="en-AU" sz="1200" b="0" i="0" u="none" strike="noStrike" kern="1200" dirty="0">
                <a:solidFill>
                  <a:schemeClr val="tx1"/>
                </a:solidFill>
                <a:effectLst/>
                <a:latin typeface="+mn-lt"/>
                <a:ea typeface="+mn-ea"/>
                <a:cs typeface="+mn-cs"/>
              </a:rPr>
              <a:t>And for LOF because these max-contract veterans all earn similar premium amounts and cluster tightly together at the top of the financial scale, </a:t>
            </a:r>
          </a:p>
          <a:p>
            <a:pPr rtl="0"/>
            <a:r>
              <a:rPr lang="en-AU" sz="1200" b="0" i="0" u="none" strike="noStrike" kern="1200" dirty="0">
                <a:solidFill>
                  <a:schemeClr val="tx1"/>
                </a:solidFill>
                <a:effectLst/>
                <a:latin typeface="+mn-lt"/>
                <a:ea typeface="+mn-ea"/>
                <a:cs typeface="+mn-cs"/>
              </a:rPr>
              <a:t>LOF views them as a dense, normal </a:t>
            </a:r>
            <a:r>
              <a:rPr lang="en-AU" sz="1200" b="0" i="0" u="none" strike="noStrike" kern="1200" dirty="0" err="1">
                <a:solidFill>
                  <a:schemeClr val="tx1"/>
                </a:solidFill>
                <a:effectLst/>
                <a:latin typeface="+mn-lt"/>
                <a:ea typeface="+mn-ea"/>
                <a:cs typeface="+mn-cs"/>
              </a:rPr>
              <a:t>neighborhood</a:t>
            </a:r>
            <a:r>
              <a:rPr lang="en-AU" sz="1200" b="0" i="0" u="none" strike="noStrike" kern="1200" dirty="0">
                <a:solidFill>
                  <a:schemeClr val="tx1"/>
                </a:solidFill>
                <a:effectLst/>
                <a:latin typeface="+mn-lt"/>
                <a:ea typeface="+mn-ea"/>
                <a:cs typeface="+mn-cs"/>
              </a:rPr>
              <a:t> of peers and misses them globally. </a:t>
            </a:r>
          </a:p>
          <a:p>
            <a:pPr rtl="0"/>
            <a:endParaRPr lang="en-AU" sz="1200" b="0" i="0" u="none" strike="noStrike" kern="1200" dirty="0">
              <a:solidFill>
                <a:schemeClr val="tx1"/>
              </a:solidFill>
              <a:effectLst/>
              <a:latin typeface="+mn-lt"/>
              <a:ea typeface="+mn-ea"/>
              <a:cs typeface="+mn-cs"/>
            </a:endParaRPr>
          </a:p>
          <a:p>
            <a:pPr rtl="0"/>
            <a:r>
              <a:rPr lang="en-AU" sz="1200" b="0" i="0" u="none" strike="noStrike" kern="1200" dirty="0">
                <a:solidFill>
                  <a:schemeClr val="tx1"/>
                </a:solidFill>
                <a:effectLst/>
                <a:latin typeface="+mn-lt"/>
                <a:ea typeface="+mn-ea"/>
                <a:cs typeface="+mn-cs"/>
              </a:rPr>
              <a:t>For this problem where salary extremes are global, Isolation Forest is the better architectural choice.</a:t>
            </a:r>
            <a:endParaRPr lang="en-AU" b="0" dirty="0">
              <a:effectLst/>
            </a:endParaRPr>
          </a:p>
          <a:p>
            <a:br>
              <a:rPr lang="en-AU"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rtl="0"/>
            <a:r>
              <a:rPr lang="en-AU" sz="1200" b="0" i="0" u="none" strike="noStrike" kern="1200" dirty="0">
                <a:solidFill>
                  <a:schemeClr val="tx1"/>
                </a:solidFill>
                <a:effectLst/>
                <a:latin typeface="+mn-lt"/>
                <a:ea typeface="+mn-ea"/>
                <a:cs typeface="+mn-cs"/>
              </a:rPr>
              <a:t>Now let’s discuss with some domain knowledge.</a:t>
            </a:r>
            <a:endParaRPr lang="en-AU" b="0" dirty="0">
              <a:effectLst/>
            </a:endParaRPr>
          </a:p>
          <a:p>
            <a:pPr rtl="0"/>
            <a:r>
              <a:rPr lang="en-AU" sz="1200" b="0" i="0" u="none" strike="noStrike" kern="1200" dirty="0">
                <a:solidFill>
                  <a:schemeClr val="tx1"/>
                </a:solidFill>
                <a:effectLst/>
                <a:latin typeface="+mn-lt"/>
                <a:ea typeface="+mn-ea"/>
                <a:cs typeface="+mn-cs"/>
              </a:rPr>
              <a:t>Remember LeBron James? The algorithm flagged him as the 5th most overpaid player. But here is the full picture. </a:t>
            </a:r>
          </a:p>
          <a:p>
            <a:pPr rtl="0"/>
            <a:endParaRPr lang="en-AU" sz="1200" b="0" i="0" u="none" strike="noStrike" kern="1200" dirty="0">
              <a:solidFill>
                <a:schemeClr val="tx1"/>
              </a:solidFill>
              <a:effectLst/>
              <a:latin typeface="+mn-lt"/>
              <a:ea typeface="+mn-ea"/>
              <a:cs typeface="+mn-cs"/>
            </a:endParaRPr>
          </a:p>
          <a:p>
            <a:pPr rtl="0"/>
            <a:r>
              <a:rPr lang="en-AU" sz="1200" b="0" i="0" u="none" strike="noStrike" kern="1200" dirty="0">
                <a:solidFill>
                  <a:schemeClr val="tx1"/>
                </a:solidFill>
                <a:effectLst/>
                <a:latin typeface="+mn-lt"/>
                <a:ea typeface="+mn-ea"/>
                <a:cs typeface="+mn-cs"/>
              </a:rPr>
              <a:t>In that season, LeBron missed 27 regular season games due to injury. </a:t>
            </a:r>
          </a:p>
          <a:p>
            <a:pPr rtl="0"/>
            <a:endParaRPr lang="en-AU" sz="1200" b="0" i="0" u="none" strike="noStrike" kern="1200" dirty="0">
              <a:solidFill>
                <a:schemeClr val="tx1"/>
              </a:solidFill>
              <a:effectLst/>
              <a:latin typeface="+mn-lt"/>
              <a:ea typeface="+mn-ea"/>
              <a:cs typeface="+mn-cs"/>
            </a:endParaRPr>
          </a:p>
          <a:p>
            <a:pPr rtl="0"/>
            <a:r>
              <a:rPr lang="en-AU" sz="1200" b="0" i="0" u="none" strike="noStrike" kern="1200" dirty="0">
                <a:solidFill>
                  <a:schemeClr val="tx1"/>
                </a:solidFill>
                <a:effectLst/>
                <a:latin typeface="+mn-lt"/>
                <a:ea typeface="+mn-ea"/>
                <a:cs typeface="+mn-cs"/>
              </a:rPr>
              <a:t>Then in February 2023 of that season, he surpassed the legend: Kareem Abdul Jabbar to become the all time leading scorer in NBA history </a:t>
            </a:r>
          </a:p>
          <a:p>
            <a:pPr rtl="0"/>
            <a:r>
              <a:rPr lang="en-AU" sz="1200" b="0" i="0" u="none" strike="noStrike" kern="1200" dirty="0">
                <a:solidFill>
                  <a:schemeClr val="tx1"/>
                </a:solidFill>
                <a:effectLst/>
                <a:latin typeface="+mn-lt"/>
                <a:ea typeface="+mn-ea"/>
                <a:cs typeface="+mn-cs"/>
              </a:rPr>
              <a:t>and then continue to lead the Lakers all the way to the Western Conference Finals. </a:t>
            </a:r>
          </a:p>
          <a:p>
            <a:pPr rtl="0"/>
            <a:endParaRPr lang="en-AU" sz="1200" b="0" i="0" u="none" strike="noStrike" kern="1200" dirty="0">
              <a:solidFill>
                <a:schemeClr val="tx1"/>
              </a:solidFill>
              <a:effectLst/>
              <a:latin typeface="+mn-lt"/>
              <a:ea typeface="+mn-ea"/>
              <a:cs typeface="+mn-cs"/>
            </a:endParaRPr>
          </a:p>
          <a:p>
            <a:pPr rtl="0"/>
            <a:r>
              <a:rPr lang="en-AU" sz="1200" b="0" i="0" u="none" strike="noStrike" kern="1200" dirty="0">
                <a:solidFill>
                  <a:schemeClr val="tx1"/>
                </a:solidFill>
                <a:effectLst/>
                <a:latin typeface="+mn-lt"/>
                <a:ea typeface="+mn-ea"/>
                <a:cs typeface="+mn-cs"/>
              </a:rPr>
              <a:t>That is leadership and historic achievement that no statistics can capture.</a:t>
            </a:r>
          </a:p>
          <a:p>
            <a:pPr rtl="0"/>
            <a:endParaRPr lang="en-AU" b="0" dirty="0">
              <a:effectLst/>
            </a:endParaRPr>
          </a:p>
          <a:p>
            <a:pPr rtl="0"/>
            <a:r>
              <a:rPr lang="en-AU" sz="1200" b="0" i="0" u="none" strike="noStrike" kern="1200" dirty="0">
                <a:solidFill>
                  <a:schemeClr val="tx1"/>
                </a:solidFill>
                <a:effectLst/>
                <a:latin typeface="+mn-lt"/>
                <a:ea typeface="+mn-ea"/>
                <a:cs typeface="+mn-cs"/>
              </a:rPr>
              <a:t>This underscores a data mining lesson: data-driven does not mean data-only.** </a:t>
            </a:r>
            <a:endParaRPr lang="en-AU" b="0" dirty="0">
              <a:effectLst/>
            </a:endParaRPr>
          </a:p>
          <a:p>
            <a:pPr rtl="0"/>
            <a:endParaRPr lang="en-AU" sz="1200" b="0" i="0" u="none" strike="noStrike" kern="1200" dirty="0">
              <a:solidFill>
                <a:schemeClr val="tx1"/>
              </a:solidFill>
              <a:effectLst/>
              <a:latin typeface="+mn-lt"/>
              <a:ea typeface="+mn-ea"/>
              <a:cs typeface="+mn-cs"/>
            </a:endParaRPr>
          </a:p>
          <a:p>
            <a:pPr rtl="0"/>
            <a:r>
              <a:rPr lang="en-AU" sz="1200" b="0" i="0" u="none" strike="noStrike" kern="1200" dirty="0">
                <a:solidFill>
                  <a:schemeClr val="tx1"/>
                </a:solidFill>
                <a:effectLst/>
                <a:latin typeface="+mn-lt"/>
                <a:ea typeface="+mn-ea"/>
                <a:cs typeface="+mn-cs"/>
              </a:rPr>
              <a:t>And that we should combine both algorithmic output with human contextual judgement in solving problems.</a:t>
            </a:r>
            <a:endParaRPr lang="en-AU" b="0" dirty="0">
              <a:effectLst/>
            </a:endParaRPr>
          </a:p>
          <a:p>
            <a:br>
              <a:rPr lang="en-AU"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rtl="0"/>
            <a:r>
              <a:rPr lang="en-AU" sz="1200" b="0" i="0" u="none" strike="noStrike" kern="1200" dirty="0">
                <a:solidFill>
                  <a:schemeClr val="tx1"/>
                </a:solidFill>
                <a:effectLst/>
                <a:latin typeface="+mn-lt"/>
                <a:ea typeface="+mn-ea"/>
                <a:cs typeface="+mn-cs"/>
              </a:rPr>
              <a:t>In conclusion, Isolation Forest provides an objective framework for detecting anomalies in 10 percent of the dataset. Combined with Local Outlier Factor and domain knowledge, it is a powerful starting point for data driven roster analysis.</a:t>
            </a:r>
            <a:endParaRPr lang="en-AU" b="0" dirty="0">
              <a:effectLst/>
            </a:endParaRPr>
          </a:p>
          <a:p>
            <a:br>
              <a:rPr lang="en-AU" b="0" dirty="0">
                <a:effectLst/>
              </a:rPr>
            </a:br>
            <a:endParaRPr lang="en-AU" b="0" dirty="0">
              <a:effectLst/>
            </a:endParaRPr>
          </a:p>
          <a:p>
            <a:pPr rtl="0"/>
            <a:r>
              <a:rPr lang="en-AU" sz="1200" b="0" i="0" u="none" strike="noStrike" kern="1200" dirty="0">
                <a:solidFill>
                  <a:schemeClr val="tx1"/>
                </a:solidFill>
                <a:effectLst/>
                <a:latin typeface="+mn-lt"/>
                <a:ea typeface="+mn-ea"/>
                <a:cs typeface="+mn-cs"/>
              </a:rPr>
              <a:t>For future work, I am looking forward to incorporating multi-season data to capture career trajectories. We should also add injury history as an explicit feature to isolate injury-driven anomalies from true overpayment. Finally, stratifying the analysis by player position in basketball would be highly valuable, as salary norms differ significantly between </a:t>
            </a:r>
            <a:r>
              <a:rPr lang="en-AU" sz="1200" b="0" i="0" u="none" strike="noStrike" kern="1200" dirty="0" err="1">
                <a:solidFill>
                  <a:schemeClr val="tx1"/>
                </a:solidFill>
                <a:effectLst/>
                <a:latin typeface="+mn-lt"/>
                <a:ea typeface="+mn-ea"/>
                <a:cs typeface="+mn-cs"/>
              </a:rPr>
              <a:t>centers</a:t>
            </a:r>
            <a:r>
              <a:rPr lang="en-AU" sz="1200" b="0" i="0" u="none" strike="noStrike" kern="1200" dirty="0">
                <a:solidFill>
                  <a:schemeClr val="tx1"/>
                </a:solidFill>
                <a:effectLst/>
                <a:latin typeface="+mn-lt"/>
                <a:ea typeface="+mn-ea"/>
                <a:cs typeface="+mn-cs"/>
              </a:rPr>
              <a:t> and guards.</a:t>
            </a:r>
            <a:endParaRPr lang="en-AU" b="0" dirty="0">
              <a:effectLst/>
            </a:endParaRPr>
          </a:p>
          <a:p>
            <a:br>
              <a:rPr lang="en-AU"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D6BF5"/>
          </a:solidFill>
          <a:ln w="12700">
            <a:solidFill>
              <a:srgbClr val="3D6BF5"/>
            </a:solidFill>
            <a:prstDash val="solid"/>
          </a:ln>
        </p:spPr>
        <p:txBody>
          <a:bodyPr/>
          <a:lstStyle/>
          <a:p>
            <a:endParaRPr lang="en-AU"/>
          </a:p>
        </p:txBody>
      </p:sp>
      <p:sp>
        <p:nvSpPr>
          <p:cNvPr id="3" name="Shape 1"/>
          <p:cNvSpPr/>
          <p:nvPr/>
        </p:nvSpPr>
        <p:spPr>
          <a:xfrm>
            <a:off x="6858000" y="137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 name="Shape 2"/>
          <p:cNvSpPr/>
          <p:nvPr/>
        </p:nvSpPr>
        <p:spPr>
          <a:xfrm>
            <a:off x="7114032" y="137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 name="Shape 3"/>
          <p:cNvSpPr/>
          <p:nvPr/>
        </p:nvSpPr>
        <p:spPr>
          <a:xfrm>
            <a:off x="7370064" y="137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 name="Shape 4"/>
          <p:cNvSpPr/>
          <p:nvPr/>
        </p:nvSpPr>
        <p:spPr>
          <a:xfrm>
            <a:off x="7626096" y="137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7" name="Shape 5"/>
          <p:cNvSpPr/>
          <p:nvPr/>
        </p:nvSpPr>
        <p:spPr>
          <a:xfrm>
            <a:off x="7882128" y="137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8" name="Shape 6"/>
          <p:cNvSpPr/>
          <p:nvPr/>
        </p:nvSpPr>
        <p:spPr>
          <a:xfrm>
            <a:off x="8138160" y="137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9" name="Shape 7"/>
          <p:cNvSpPr/>
          <p:nvPr/>
        </p:nvSpPr>
        <p:spPr>
          <a:xfrm>
            <a:off x="8394192" y="137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0" name="Shape 8"/>
          <p:cNvSpPr/>
          <p:nvPr/>
        </p:nvSpPr>
        <p:spPr>
          <a:xfrm>
            <a:off x="6858000" y="39319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1" name="Shape 9"/>
          <p:cNvSpPr/>
          <p:nvPr/>
        </p:nvSpPr>
        <p:spPr>
          <a:xfrm>
            <a:off x="7114032" y="39319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2" name="Shape 10"/>
          <p:cNvSpPr/>
          <p:nvPr/>
        </p:nvSpPr>
        <p:spPr>
          <a:xfrm>
            <a:off x="7370064" y="39319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3" name="Shape 11"/>
          <p:cNvSpPr/>
          <p:nvPr/>
        </p:nvSpPr>
        <p:spPr>
          <a:xfrm>
            <a:off x="7626096" y="39319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4" name="Shape 12"/>
          <p:cNvSpPr/>
          <p:nvPr/>
        </p:nvSpPr>
        <p:spPr>
          <a:xfrm>
            <a:off x="7882128" y="39319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5" name="Shape 13"/>
          <p:cNvSpPr/>
          <p:nvPr/>
        </p:nvSpPr>
        <p:spPr>
          <a:xfrm>
            <a:off x="8138160" y="39319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6" name="Shape 14"/>
          <p:cNvSpPr/>
          <p:nvPr/>
        </p:nvSpPr>
        <p:spPr>
          <a:xfrm>
            <a:off x="8394192" y="39319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7" name="Shape 15"/>
          <p:cNvSpPr/>
          <p:nvPr/>
        </p:nvSpPr>
        <p:spPr>
          <a:xfrm>
            <a:off x="6858000" y="64922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8" name="Shape 16"/>
          <p:cNvSpPr/>
          <p:nvPr/>
        </p:nvSpPr>
        <p:spPr>
          <a:xfrm>
            <a:off x="7114032" y="64922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9" name="Shape 17"/>
          <p:cNvSpPr/>
          <p:nvPr/>
        </p:nvSpPr>
        <p:spPr>
          <a:xfrm>
            <a:off x="7370064" y="64922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0" name="Shape 18"/>
          <p:cNvSpPr/>
          <p:nvPr/>
        </p:nvSpPr>
        <p:spPr>
          <a:xfrm>
            <a:off x="7626096" y="64922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1" name="Shape 19"/>
          <p:cNvSpPr/>
          <p:nvPr/>
        </p:nvSpPr>
        <p:spPr>
          <a:xfrm>
            <a:off x="7882128" y="64922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2" name="Shape 20"/>
          <p:cNvSpPr/>
          <p:nvPr/>
        </p:nvSpPr>
        <p:spPr>
          <a:xfrm>
            <a:off x="8138160" y="64922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3" name="Shape 21"/>
          <p:cNvSpPr/>
          <p:nvPr/>
        </p:nvSpPr>
        <p:spPr>
          <a:xfrm>
            <a:off x="8394192" y="64922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4" name="Shape 22"/>
          <p:cNvSpPr/>
          <p:nvPr/>
        </p:nvSpPr>
        <p:spPr>
          <a:xfrm>
            <a:off x="6858000" y="90525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5" name="Shape 23"/>
          <p:cNvSpPr/>
          <p:nvPr/>
        </p:nvSpPr>
        <p:spPr>
          <a:xfrm>
            <a:off x="7114032" y="90525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6" name="Shape 24"/>
          <p:cNvSpPr/>
          <p:nvPr/>
        </p:nvSpPr>
        <p:spPr>
          <a:xfrm>
            <a:off x="7370064" y="90525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7" name="Shape 25"/>
          <p:cNvSpPr/>
          <p:nvPr/>
        </p:nvSpPr>
        <p:spPr>
          <a:xfrm>
            <a:off x="7626096" y="90525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8" name="Shape 26"/>
          <p:cNvSpPr/>
          <p:nvPr/>
        </p:nvSpPr>
        <p:spPr>
          <a:xfrm>
            <a:off x="7882128" y="90525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9" name="Shape 27"/>
          <p:cNvSpPr/>
          <p:nvPr/>
        </p:nvSpPr>
        <p:spPr>
          <a:xfrm>
            <a:off x="8138160" y="90525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0" name="Shape 28"/>
          <p:cNvSpPr/>
          <p:nvPr/>
        </p:nvSpPr>
        <p:spPr>
          <a:xfrm>
            <a:off x="8394192" y="90525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1" name="Shape 29"/>
          <p:cNvSpPr/>
          <p:nvPr/>
        </p:nvSpPr>
        <p:spPr>
          <a:xfrm>
            <a:off x="6858000" y="116128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2" name="Shape 30"/>
          <p:cNvSpPr/>
          <p:nvPr/>
        </p:nvSpPr>
        <p:spPr>
          <a:xfrm>
            <a:off x="7114032" y="116128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3" name="Shape 31"/>
          <p:cNvSpPr/>
          <p:nvPr/>
        </p:nvSpPr>
        <p:spPr>
          <a:xfrm>
            <a:off x="7370064" y="116128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4" name="Shape 32"/>
          <p:cNvSpPr/>
          <p:nvPr/>
        </p:nvSpPr>
        <p:spPr>
          <a:xfrm>
            <a:off x="7626096" y="116128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5" name="Shape 33"/>
          <p:cNvSpPr/>
          <p:nvPr/>
        </p:nvSpPr>
        <p:spPr>
          <a:xfrm>
            <a:off x="7882128" y="116128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6" name="Shape 34"/>
          <p:cNvSpPr/>
          <p:nvPr/>
        </p:nvSpPr>
        <p:spPr>
          <a:xfrm>
            <a:off x="8138160" y="116128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7" name="Shape 35"/>
          <p:cNvSpPr/>
          <p:nvPr/>
        </p:nvSpPr>
        <p:spPr>
          <a:xfrm>
            <a:off x="8394192" y="116128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8" name="Shape 36"/>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9" name="Text 37"/>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DATA MINING ASSIGNMENT</a:t>
            </a:r>
            <a:endParaRPr lang="en-US" sz="900" dirty="0"/>
          </a:p>
        </p:txBody>
      </p:sp>
      <p:sp>
        <p:nvSpPr>
          <p:cNvPr id="40" name="Text 38"/>
          <p:cNvSpPr/>
          <p:nvPr/>
        </p:nvSpPr>
        <p:spPr>
          <a:xfrm>
            <a:off x="489204" y="457200"/>
            <a:ext cx="5943600" cy="777240"/>
          </a:xfrm>
          <a:prstGeom prst="rect">
            <a:avLst/>
          </a:prstGeom>
          <a:noFill/>
          <a:ln/>
        </p:spPr>
        <p:txBody>
          <a:bodyPr wrap="square" lIns="0" tIns="0" rIns="0" bIns="0" rtlCol="0" anchor="ctr"/>
          <a:lstStyle/>
          <a:p>
            <a:pPr marL="0" indent="0">
              <a:buNone/>
            </a:pPr>
            <a:r>
              <a:rPr lang="en-US" sz="4200" b="1" dirty="0">
                <a:solidFill>
                  <a:srgbClr val="1A1A2E"/>
                </a:solidFill>
                <a:latin typeface="Arial Black" pitchFamily="34" charset="0"/>
                <a:ea typeface="Arial Black" pitchFamily="34" charset="-122"/>
                <a:cs typeface="Arial Black" pitchFamily="34" charset="-120"/>
              </a:rPr>
              <a:t>DETECTING NBA</a:t>
            </a:r>
            <a:endParaRPr lang="en-US" sz="4200" dirty="0"/>
          </a:p>
        </p:txBody>
      </p:sp>
      <p:sp>
        <p:nvSpPr>
          <p:cNvPr id="41" name="Text 39"/>
          <p:cNvSpPr/>
          <p:nvPr/>
        </p:nvSpPr>
        <p:spPr>
          <a:xfrm>
            <a:off x="502920" y="1508760"/>
            <a:ext cx="5943600" cy="777240"/>
          </a:xfrm>
          <a:prstGeom prst="rect">
            <a:avLst/>
          </a:prstGeom>
          <a:noFill/>
          <a:ln/>
        </p:spPr>
        <p:txBody>
          <a:bodyPr wrap="square" lIns="0" tIns="0" rIns="0" bIns="0" rtlCol="0" anchor="ctr"/>
          <a:lstStyle/>
          <a:p>
            <a:pPr marL="0" indent="0">
              <a:buNone/>
            </a:pPr>
            <a:r>
              <a:rPr lang="en-US" sz="4200" b="1" dirty="0">
                <a:solidFill>
                  <a:srgbClr val="3D6BF5"/>
                </a:solidFill>
                <a:latin typeface="Arial Black" pitchFamily="34" charset="0"/>
                <a:ea typeface="Arial Black" pitchFamily="34" charset="-122"/>
                <a:cs typeface="Arial Black" pitchFamily="34" charset="-120"/>
              </a:rPr>
              <a:t>SALARY ANOMALIES</a:t>
            </a:r>
            <a:endParaRPr lang="en-US" sz="4200" dirty="0"/>
          </a:p>
        </p:txBody>
      </p:sp>
      <p:sp>
        <p:nvSpPr>
          <p:cNvPr id="42" name="Text 40"/>
          <p:cNvSpPr/>
          <p:nvPr/>
        </p:nvSpPr>
        <p:spPr>
          <a:xfrm>
            <a:off x="502920" y="2496312"/>
            <a:ext cx="5943600" cy="594360"/>
          </a:xfrm>
          <a:prstGeom prst="rect">
            <a:avLst/>
          </a:prstGeom>
          <a:noFill/>
          <a:ln/>
        </p:spPr>
        <p:txBody>
          <a:bodyPr wrap="square" lIns="0" tIns="0" rIns="0" bIns="0" rtlCol="0" anchor="ctr"/>
          <a:lstStyle/>
          <a:p>
            <a:pPr marL="0" indent="0">
              <a:buNone/>
            </a:pPr>
            <a:r>
              <a:rPr lang="en-US" sz="2600" b="1" dirty="0">
                <a:solidFill>
                  <a:srgbClr val="3D6BF5"/>
                </a:solidFill>
                <a:latin typeface="Arial Black" pitchFamily="34" charset="0"/>
                <a:ea typeface="Arial Black" pitchFamily="34" charset="-122"/>
                <a:cs typeface="Arial Black" pitchFamily="34" charset="-120"/>
              </a:rPr>
              <a:t>USING ISOLATION FOREST</a:t>
            </a:r>
            <a:endParaRPr lang="en-US" sz="2600" dirty="0"/>
          </a:p>
        </p:txBody>
      </p:sp>
      <p:sp>
        <p:nvSpPr>
          <p:cNvPr id="43" name="Text 41"/>
          <p:cNvSpPr/>
          <p:nvPr/>
        </p:nvSpPr>
        <p:spPr>
          <a:xfrm>
            <a:off x="502920" y="3388505"/>
            <a:ext cx="5486400" cy="640080"/>
          </a:xfrm>
          <a:prstGeom prst="rect">
            <a:avLst/>
          </a:prstGeom>
          <a:noFill/>
          <a:ln/>
        </p:spPr>
        <p:txBody>
          <a:bodyPr wrap="square" lIns="0" tIns="0" rIns="0" bIns="0" rtlCol="0" anchor="ctr"/>
          <a:lstStyle/>
          <a:p>
            <a:pPr marL="0" indent="0">
              <a:buNone/>
            </a:pPr>
            <a:r>
              <a:rPr lang="en-US" sz="1400" dirty="0">
                <a:solidFill>
                  <a:srgbClr val="555B6E"/>
                </a:solidFill>
                <a:latin typeface="Calibri" pitchFamily="34" charset="0"/>
                <a:ea typeface="Calibri" pitchFamily="34" charset="-122"/>
                <a:cs typeface="Calibri" pitchFamily="34" charset="-120"/>
              </a:rPr>
              <a:t>Identifying Overpaid</a:t>
            </a:r>
            <a:r>
              <a:rPr lang="en-US" sz="1400" dirty="0"/>
              <a:t> </a:t>
            </a:r>
            <a:r>
              <a:rPr lang="en-US" sz="1400" dirty="0">
                <a:solidFill>
                  <a:srgbClr val="555B6E"/>
                </a:solidFill>
                <a:latin typeface="Calibri" pitchFamily="34" charset="0"/>
                <a:ea typeface="Calibri" pitchFamily="34" charset="-122"/>
                <a:cs typeface="Calibri" pitchFamily="34" charset="-120"/>
              </a:rPr>
              <a:t>and Underpaid NBA Players</a:t>
            </a:r>
          </a:p>
          <a:p>
            <a:pPr marL="0" indent="0">
              <a:buNone/>
            </a:pPr>
            <a:endParaRPr lang="en-US" sz="1400" dirty="0">
              <a:solidFill>
                <a:srgbClr val="555B6E"/>
              </a:solidFill>
              <a:latin typeface="Calibri" pitchFamily="34" charset="0"/>
              <a:ea typeface="Calibri" pitchFamily="34" charset="-122"/>
              <a:cs typeface="Calibri" pitchFamily="34" charset="-120"/>
            </a:endParaRPr>
          </a:p>
          <a:p>
            <a:pPr marL="0" indent="0">
              <a:buNone/>
            </a:pPr>
            <a:r>
              <a:rPr lang="en-US" sz="1400" dirty="0">
                <a:solidFill>
                  <a:srgbClr val="555B6E"/>
                </a:solidFill>
                <a:latin typeface="Calibri" pitchFamily="34" charset="0"/>
                <a:ea typeface="Calibri" pitchFamily="34" charset="-122"/>
                <a:cs typeface="Calibri" pitchFamily="34" charset="-120"/>
              </a:rPr>
              <a:t>Nam Trung Tran – a1894661</a:t>
            </a:r>
            <a:endParaRPr lang="en-US" sz="1400" dirty="0"/>
          </a:p>
        </p:txBody>
      </p:sp>
      <p:sp>
        <p:nvSpPr>
          <p:cNvPr id="44" name="Shape 42"/>
          <p:cNvSpPr/>
          <p:nvPr/>
        </p:nvSpPr>
        <p:spPr>
          <a:xfrm>
            <a:off x="0" y="4572000"/>
            <a:ext cx="9144000" cy="571500"/>
          </a:xfrm>
          <a:prstGeom prst="rect">
            <a:avLst/>
          </a:prstGeom>
          <a:solidFill>
            <a:srgbClr val="D0DAFE"/>
          </a:solidFill>
          <a:ln w="12700">
            <a:solidFill>
              <a:srgbClr val="D0DAFE"/>
            </a:solidFill>
            <a:prstDash val="solid"/>
          </a:ln>
        </p:spPr>
        <p:txBody>
          <a:bodyPr/>
          <a:lstStyle/>
          <a:p>
            <a:endParaRPr lang="en-AU"/>
          </a:p>
        </p:txBody>
      </p:sp>
      <p:sp>
        <p:nvSpPr>
          <p:cNvPr id="45" name="Text 43"/>
          <p:cNvSpPr/>
          <p:nvPr/>
        </p:nvSpPr>
        <p:spPr>
          <a:xfrm>
            <a:off x="457200" y="4617720"/>
            <a:ext cx="8229600" cy="457200"/>
          </a:xfrm>
          <a:prstGeom prst="rect">
            <a:avLst/>
          </a:prstGeom>
          <a:noFill/>
          <a:ln/>
        </p:spPr>
        <p:txBody>
          <a:bodyPr wrap="square" lIns="0" tIns="0" rIns="0" bIns="0" rtlCol="0" anchor="ctr"/>
          <a:lstStyle/>
          <a:p>
            <a:pPr marL="0" indent="0" algn="ctr">
              <a:buNone/>
            </a:pPr>
            <a:r>
              <a:rPr lang="en-US" sz="1000" dirty="0">
                <a:solidFill>
                  <a:srgbClr val="555B6E"/>
                </a:solidFill>
              </a:rPr>
              <a:t>Data Mining Application|   Semester 1, 2026   |   Isolation Forest · LOF · Python · Scikit-Learn</a:t>
            </a:r>
            <a:endParaRPr lang="en-US" sz="1000" dirty="0"/>
          </a:p>
        </p:txBody>
      </p:sp>
      <p:sp>
        <p:nvSpPr>
          <p:cNvPr id="46" name="Shape 44"/>
          <p:cNvSpPr/>
          <p:nvPr/>
        </p:nvSpPr>
        <p:spPr>
          <a:xfrm>
            <a:off x="6035040" y="502920"/>
            <a:ext cx="3291840" cy="4041648"/>
          </a:xfrm>
          <a:prstGeom prst="ellipse">
            <a:avLst/>
          </a:prstGeom>
          <a:solidFill>
            <a:srgbClr val="E8EFFE">
              <a:alpha val="75000"/>
            </a:srgbClr>
          </a:solidFill>
          <a:ln w="12700">
            <a:solidFill>
              <a:srgbClr val="D0DAFE">
                <a:alpha val="60000"/>
              </a:srgbClr>
            </a:solidFill>
            <a:prstDash val="solid"/>
          </a:ln>
        </p:spPr>
        <p:txBody>
          <a:bodyPr/>
          <a:lstStyle/>
          <a:p>
            <a:endParaRPr lang="en-AU"/>
          </a:p>
        </p:txBody>
      </p:sp>
      <p:sp>
        <p:nvSpPr>
          <p:cNvPr id="47" name="Shape 45"/>
          <p:cNvSpPr/>
          <p:nvPr/>
        </p:nvSpPr>
        <p:spPr>
          <a:xfrm>
            <a:off x="6675120" y="1188720"/>
            <a:ext cx="2011680" cy="2011680"/>
          </a:xfrm>
          <a:prstGeom prst="ellipse">
            <a:avLst/>
          </a:prstGeom>
          <a:solidFill>
            <a:srgbClr val="D0DAFE">
              <a:alpha val="60000"/>
            </a:srgbClr>
          </a:solidFill>
          <a:ln w="12700">
            <a:solidFill>
              <a:srgbClr val="C5D3FC">
                <a:alpha val="70000"/>
              </a:srgbClr>
            </a:solidFill>
            <a:prstDash val="solid"/>
          </a:ln>
        </p:spPr>
        <p:txBody>
          <a:bodyPr/>
          <a:lstStyle/>
          <a:p>
            <a:endParaRPr lang="en-AU"/>
          </a:p>
        </p:txBody>
      </p:sp>
      <p:sp>
        <p:nvSpPr>
          <p:cNvPr id="48" name="Shape 46"/>
          <p:cNvSpPr/>
          <p:nvPr/>
        </p:nvSpPr>
        <p:spPr>
          <a:xfrm>
            <a:off x="6309360" y="34747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9" name="Shape 47"/>
          <p:cNvSpPr/>
          <p:nvPr/>
        </p:nvSpPr>
        <p:spPr>
          <a:xfrm>
            <a:off x="6601968" y="34747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0" name="Shape 48"/>
          <p:cNvSpPr/>
          <p:nvPr/>
        </p:nvSpPr>
        <p:spPr>
          <a:xfrm>
            <a:off x="6894576" y="34747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1" name="Shape 49"/>
          <p:cNvSpPr/>
          <p:nvPr/>
        </p:nvSpPr>
        <p:spPr>
          <a:xfrm>
            <a:off x="7187184" y="34747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2" name="Shape 50"/>
          <p:cNvSpPr/>
          <p:nvPr/>
        </p:nvSpPr>
        <p:spPr>
          <a:xfrm>
            <a:off x="7479792" y="34747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3" name="Shape 51"/>
          <p:cNvSpPr/>
          <p:nvPr/>
        </p:nvSpPr>
        <p:spPr>
          <a:xfrm>
            <a:off x="7772400" y="34747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4" name="Shape 52"/>
          <p:cNvSpPr/>
          <p:nvPr/>
        </p:nvSpPr>
        <p:spPr>
          <a:xfrm>
            <a:off x="6309360" y="376732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5" name="Shape 53"/>
          <p:cNvSpPr/>
          <p:nvPr/>
        </p:nvSpPr>
        <p:spPr>
          <a:xfrm>
            <a:off x="6601968" y="376732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6" name="Shape 54"/>
          <p:cNvSpPr/>
          <p:nvPr/>
        </p:nvSpPr>
        <p:spPr>
          <a:xfrm>
            <a:off x="6894576" y="376732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7" name="Shape 55"/>
          <p:cNvSpPr/>
          <p:nvPr/>
        </p:nvSpPr>
        <p:spPr>
          <a:xfrm>
            <a:off x="7187184" y="376732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8" name="Shape 56"/>
          <p:cNvSpPr/>
          <p:nvPr/>
        </p:nvSpPr>
        <p:spPr>
          <a:xfrm>
            <a:off x="7479792" y="376732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9" name="Shape 57"/>
          <p:cNvSpPr/>
          <p:nvPr/>
        </p:nvSpPr>
        <p:spPr>
          <a:xfrm>
            <a:off x="7772400" y="376732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0" name="Shape 58"/>
          <p:cNvSpPr/>
          <p:nvPr/>
        </p:nvSpPr>
        <p:spPr>
          <a:xfrm>
            <a:off x="6309360" y="405993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1" name="Shape 59"/>
          <p:cNvSpPr/>
          <p:nvPr/>
        </p:nvSpPr>
        <p:spPr>
          <a:xfrm>
            <a:off x="6601968" y="405993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2" name="Shape 60"/>
          <p:cNvSpPr/>
          <p:nvPr/>
        </p:nvSpPr>
        <p:spPr>
          <a:xfrm>
            <a:off x="6894576" y="405993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3" name="Shape 61"/>
          <p:cNvSpPr/>
          <p:nvPr/>
        </p:nvSpPr>
        <p:spPr>
          <a:xfrm>
            <a:off x="7187184" y="405993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4" name="Shape 62"/>
          <p:cNvSpPr/>
          <p:nvPr/>
        </p:nvSpPr>
        <p:spPr>
          <a:xfrm>
            <a:off x="7479792" y="405993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5" name="Shape 63"/>
          <p:cNvSpPr/>
          <p:nvPr/>
        </p:nvSpPr>
        <p:spPr>
          <a:xfrm>
            <a:off x="7772400" y="405993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6" name="Shape 64"/>
          <p:cNvSpPr/>
          <p:nvPr/>
        </p:nvSpPr>
        <p:spPr>
          <a:xfrm>
            <a:off x="6309360" y="435254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7" name="Shape 65"/>
          <p:cNvSpPr/>
          <p:nvPr/>
        </p:nvSpPr>
        <p:spPr>
          <a:xfrm>
            <a:off x="6601968" y="435254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8" name="Shape 66"/>
          <p:cNvSpPr/>
          <p:nvPr/>
        </p:nvSpPr>
        <p:spPr>
          <a:xfrm>
            <a:off x="6894576" y="435254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9" name="Shape 67"/>
          <p:cNvSpPr/>
          <p:nvPr/>
        </p:nvSpPr>
        <p:spPr>
          <a:xfrm>
            <a:off x="7187184" y="435254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70" name="Shape 68"/>
          <p:cNvSpPr/>
          <p:nvPr/>
        </p:nvSpPr>
        <p:spPr>
          <a:xfrm>
            <a:off x="7479792" y="435254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71" name="Shape 69"/>
          <p:cNvSpPr/>
          <p:nvPr/>
        </p:nvSpPr>
        <p:spPr>
          <a:xfrm>
            <a:off x="7772400" y="435254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DECLARATION</a:t>
            </a:r>
            <a:endParaRPr lang="en-US" sz="900" dirty="0"/>
          </a:p>
        </p:txBody>
      </p:sp>
      <p:sp>
        <p:nvSpPr>
          <p:cNvPr id="4" name="Shape 2"/>
          <p:cNvSpPr/>
          <p:nvPr/>
        </p:nvSpPr>
        <p:spPr>
          <a:xfrm>
            <a:off x="685800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 name="Shape 3"/>
          <p:cNvSpPr/>
          <p:nvPr/>
        </p:nvSpPr>
        <p:spPr>
          <a:xfrm>
            <a:off x="713232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 name="Shape 4"/>
          <p:cNvSpPr/>
          <p:nvPr/>
        </p:nvSpPr>
        <p:spPr>
          <a:xfrm>
            <a:off x="740664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7" name="Shape 5"/>
          <p:cNvSpPr/>
          <p:nvPr/>
        </p:nvSpPr>
        <p:spPr>
          <a:xfrm>
            <a:off x="768096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8" name="Shape 6"/>
          <p:cNvSpPr/>
          <p:nvPr/>
        </p:nvSpPr>
        <p:spPr>
          <a:xfrm>
            <a:off x="795528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9" name="Shape 7"/>
          <p:cNvSpPr/>
          <p:nvPr/>
        </p:nvSpPr>
        <p:spPr>
          <a:xfrm>
            <a:off x="822960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0" name="Shape 8"/>
          <p:cNvSpPr/>
          <p:nvPr/>
        </p:nvSpPr>
        <p:spPr>
          <a:xfrm>
            <a:off x="685800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1" name="Shape 9"/>
          <p:cNvSpPr/>
          <p:nvPr/>
        </p:nvSpPr>
        <p:spPr>
          <a:xfrm>
            <a:off x="713232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2" name="Shape 10"/>
          <p:cNvSpPr/>
          <p:nvPr/>
        </p:nvSpPr>
        <p:spPr>
          <a:xfrm>
            <a:off x="740664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3" name="Shape 11"/>
          <p:cNvSpPr/>
          <p:nvPr/>
        </p:nvSpPr>
        <p:spPr>
          <a:xfrm>
            <a:off x="768096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4" name="Shape 12"/>
          <p:cNvSpPr/>
          <p:nvPr/>
        </p:nvSpPr>
        <p:spPr>
          <a:xfrm>
            <a:off x="795528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5" name="Shape 13"/>
          <p:cNvSpPr/>
          <p:nvPr/>
        </p:nvSpPr>
        <p:spPr>
          <a:xfrm>
            <a:off x="822960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6" name="Shape 14"/>
          <p:cNvSpPr/>
          <p:nvPr/>
        </p:nvSpPr>
        <p:spPr>
          <a:xfrm>
            <a:off x="685800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7" name="Shape 15"/>
          <p:cNvSpPr/>
          <p:nvPr/>
        </p:nvSpPr>
        <p:spPr>
          <a:xfrm>
            <a:off x="713232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8" name="Shape 16"/>
          <p:cNvSpPr/>
          <p:nvPr/>
        </p:nvSpPr>
        <p:spPr>
          <a:xfrm>
            <a:off x="740664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9" name="Shape 17"/>
          <p:cNvSpPr/>
          <p:nvPr/>
        </p:nvSpPr>
        <p:spPr>
          <a:xfrm>
            <a:off x="768096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0" name="Shape 18"/>
          <p:cNvSpPr/>
          <p:nvPr/>
        </p:nvSpPr>
        <p:spPr>
          <a:xfrm>
            <a:off x="795528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1" name="Shape 19"/>
          <p:cNvSpPr/>
          <p:nvPr/>
        </p:nvSpPr>
        <p:spPr>
          <a:xfrm>
            <a:off x="822960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2" name="Shape 20"/>
          <p:cNvSpPr/>
          <p:nvPr/>
        </p:nvSpPr>
        <p:spPr>
          <a:xfrm>
            <a:off x="685800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3" name="Shape 21"/>
          <p:cNvSpPr/>
          <p:nvPr/>
        </p:nvSpPr>
        <p:spPr>
          <a:xfrm>
            <a:off x="713232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4" name="Shape 22"/>
          <p:cNvSpPr/>
          <p:nvPr/>
        </p:nvSpPr>
        <p:spPr>
          <a:xfrm>
            <a:off x="740664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5" name="Shape 23"/>
          <p:cNvSpPr/>
          <p:nvPr/>
        </p:nvSpPr>
        <p:spPr>
          <a:xfrm>
            <a:off x="768096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6" name="Shape 24"/>
          <p:cNvSpPr/>
          <p:nvPr/>
        </p:nvSpPr>
        <p:spPr>
          <a:xfrm>
            <a:off x="795528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7" name="Shape 25"/>
          <p:cNvSpPr/>
          <p:nvPr/>
        </p:nvSpPr>
        <p:spPr>
          <a:xfrm>
            <a:off x="822960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8" name="Shape 26"/>
          <p:cNvSpPr/>
          <p:nvPr/>
        </p:nvSpPr>
        <p:spPr>
          <a:xfrm>
            <a:off x="685800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9" name="Shape 27"/>
          <p:cNvSpPr/>
          <p:nvPr/>
        </p:nvSpPr>
        <p:spPr>
          <a:xfrm>
            <a:off x="713232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0" name="Shape 28"/>
          <p:cNvSpPr/>
          <p:nvPr/>
        </p:nvSpPr>
        <p:spPr>
          <a:xfrm>
            <a:off x="740664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1" name="Shape 29"/>
          <p:cNvSpPr/>
          <p:nvPr/>
        </p:nvSpPr>
        <p:spPr>
          <a:xfrm>
            <a:off x="768096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2" name="Shape 30"/>
          <p:cNvSpPr/>
          <p:nvPr/>
        </p:nvSpPr>
        <p:spPr>
          <a:xfrm>
            <a:off x="795528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3" name="Shape 31"/>
          <p:cNvSpPr/>
          <p:nvPr/>
        </p:nvSpPr>
        <p:spPr>
          <a:xfrm>
            <a:off x="822960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4" name="Shape 32"/>
          <p:cNvSpPr/>
          <p:nvPr/>
        </p:nvSpPr>
        <p:spPr>
          <a:xfrm>
            <a:off x="685800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5" name="Shape 33"/>
          <p:cNvSpPr/>
          <p:nvPr/>
        </p:nvSpPr>
        <p:spPr>
          <a:xfrm>
            <a:off x="713232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6" name="Shape 34"/>
          <p:cNvSpPr/>
          <p:nvPr/>
        </p:nvSpPr>
        <p:spPr>
          <a:xfrm>
            <a:off x="740664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7" name="Shape 35"/>
          <p:cNvSpPr/>
          <p:nvPr/>
        </p:nvSpPr>
        <p:spPr>
          <a:xfrm>
            <a:off x="768096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8" name="Shape 36"/>
          <p:cNvSpPr/>
          <p:nvPr/>
        </p:nvSpPr>
        <p:spPr>
          <a:xfrm>
            <a:off x="795528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9" name="Shape 37"/>
          <p:cNvSpPr/>
          <p:nvPr/>
        </p:nvSpPr>
        <p:spPr>
          <a:xfrm>
            <a:off x="822960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0" name="Shape 38"/>
          <p:cNvSpPr/>
          <p:nvPr/>
        </p:nvSpPr>
        <p:spPr>
          <a:xfrm>
            <a:off x="685800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1" name="Shape 39"/>
          <p:cNvSpPr/>
          <p:nvPr/>
        </p:nvSpPr>
        <p:spPr>
          <a:xfrm>
            <a:off x="713232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2" name="Shape 40"/>
          <p:cNvSpPr/>
          <p:nvPr/>
        </p:nvSpPr>
        <p:spPr>
          <a:xfrm>
            <a:off x="740664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3" name="Shape 41"/>
          <p:cNvSpPr/>
          <p:nvPr/>
        </p:nvSpPr>
        <p:spPr>
          <a:xfrm>
            <a:off x="768096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4" name="Shape 42"/>
          <p:cNvSpPr/>
          <p:nvPr/>
        </p:nvSpPr>
        <p:spPr>
          <a:xfrm>
            <a:off x="795528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5" name="Shape 43"/>
          <p:cNvSpPr/>
          <p:nvPr/>
        </p:nvSpPr>
        <p:spPr>
          <a:xfrm>
            <a:off x="822960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6" name="Shape 44"/>
          <p:cNvSpPr/>
          <p:nvPr/>
        </p:nvSpPr>
        <p:spPr>
          <a:xfrm>
            <a:off x="685800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7" name="Shape 45"/>
          <p:cNvSpPr/>
          <p:nvPr/>
        </p:nvSpPr>
        <p:spPr>
          <a:xfrm>
            <a:off x="713232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8" name="Shape 46"/>
          <p:cNvSpPr/>
          <p:nvPr/>
        </p:nvSpPr>
        <p:spPr>
          <a:xfrm>
            <a:off x="740664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9" name="Shape 47"/>
          <p:cNvSpPr/>
          <p:nvPr/>
        </p:nvSpPr>
        <p:spPr>
          <a:xfrm>
            <a:off x="768096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0" name="Shape 48"/>
          <p:cNvSpPr/>
          <p:nvPr/>
        </p:nvSpPr>
        <p:spPr>
          <a:xfrm>
            <a:off x="795528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1" name="Shape 49"/>
          <p:cNvSpPr/>
          <p:nvPr/>
        </p:nvSpPr>
        <p:spPr>
          <a:xfrm>
            <a:off x="822960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2" name="Text 50"/>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Declaration of Originality</a:t>
            </a:r>
            <a:endParaRPr lang="en-US" sz="2800" dirty="0"/>
          </a:p>
        </p:txBody>
      </p:sp>
      <p:sp>
        <p:nvSpPr>
          <p:cNvPr id="53" name="Shape 51"/>
          <p:cNvSpPr/>
          <p:nvPr/>
        </p:nvSpPr>
        <p:spPr>
          <a:xfrm>
            <a:off x="457200" y="1417320"/>
            <a:ext cx="8229600" cy="3383280"/>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54" name="Text 52"/>
          <p:cNvSpPr/>
          <p:nvPr/>
        </p:nvSpPr>
        <p:spPr>
          <a:xfrm>
            <a:off x="822960" y="1600200"/>
            <a:ext cx="7406640" cy="2743200"/>
          </a:xfrm>
          <a:prstGeom prst="rect">
            <a:avLst/>
          </a:prstGeom>
          <a:noFill/>
          <a:ln/>
        </p:spPr>
        <p:txBody>
          <a:bodyPr wrap="square" rtlCol="0" anchor="t"/>
          <a:lstStyle/>
          <a:p>
            <a:pPr marL="0" indent="0">
              <a:spcAft>
                <a:spcPts val="400"/>
              </a:spcAft>
              <a:buNone/>
            </a:pPr>
            <a:r>
              <a:rPr lang="en-US" sz="1500" b="1" dirty="0">
                <a:solidFill>
                  <a:srgbClr val="1A1A2E"/>
                </a:solidFill>
                <a:latin typeface="Calibri" pitchFamily="34" charset="0"/>
                <a:ea typeface="Calibri" pitchFamily="34" charset="-122"/>
                <a:cs typeface="Calibri" pitchFamily="34" charset="-120"/>
              </a:rPr>
              <a:t>This is my own individual work.</a:t>
            </a:r>
            <a:endParaRPr lang="en-US" sz="1500" dirty="0"/>
          </a:p>
          <a:p>
            <a:pPr marL="0" indent="0">
              <a:spcAft>
                <a:spcPts val="400"/>
              </a:spcAft>
              <a:buNone/>
            </a:pPr>
            <a:r>
              <a:rPr lang="en-US" sz="1500" dirty="0">
                <a:solidFill>
                  <a:srgbClr val="1A1A2E"/>
                </a:solidFill>
                <a:latin typeface="Calibri" pitchFamily="34" charset="0"/>
                <a:ea typeface="Calibri" pitchFamily="34" charset="-122"/>
                <a:cs typeface="Calibri" pitchFamily="34" charset="-120"/>
              </a:rPr>
              <a:t> </a:t>
            </a:r>
            <a:endParaRPr lang="en-US" sz="1500" dirty="0"/>
          </a:p>
          <a:p>
            <a:pPr marL="0" indent="0">
              <a:spcAft>
                <a:spcPts val="400"/>
              </a:spcAft>
              <a:buNone/>
            </a:pPr>
            <a:r>
              <a:rPr lang="en-US" sz="1500" dirty="0">
                <a:solidFill>
                  <a:srgbClr val="1A1A2E"/>
                </a:solidFill>
                <a:latin typeface="Calibri" pitchFamily="34" charset="0"/>
                <a:ea typeface="Calibri" pitchFamily="34" charset="-122"/>
                <a:cs typeface="Calibri" pitchFamily="34" charset="-120"/>
              </a:rPr>
              <a:t>GenAI was used to assist with code errors and analysis planning.</a:t>
            </a:r>
            <a:endParaRPr lang="en-US" sz="1500" dirty="0"/>
          </a:p>
          <a:p>
            <a:pPr marL="0" indent="0">
              <a:spcAft>
                <a:spcPts val="400"/>
              </a:spcAft>
              <a:buNone/>
            </a:pPr>
            <a:r>
              <a:rPr lang="en-US" sz="1500" dirty="0">
                <a:solidFill>
                  <a:srgbClr val="1A1A2E"/>
                </a:solidFill>
                <a:latin typeface="Calibri" pitchFamily="34" charset="0"/>
                <a:ea typeface="Calibri" pitchFamily="34" charset="-122"/>
                <a:cs typeface="Calibri" pitchFamily="34" charset="-120"/>
              </a:rPr>
              <a:t> </a:t>
            </a:r>
            <a:endParaRPr lang="en-US" sz="1500" dirty="0"/>
          </a:p>
          <a:p>
            <a:pPr marL="0" indent="0">
              <a:spcAft>
                <a:spcPts val="400"/>
              </a:spcAft>
              <a:buNone/>
            </a:pPr>
            <a:r>
              <a:rPr lang="en-US" sz="1500" dirty="0">
                <a:solidFill>
                  <a:srgbClr val="1A1A2E"/>
                </a:solidFill>
                <a:latin typeface="Calibri" pitchFamily="34" charset="0"/>
                <a:ea typeface="Calibri" pitchFamily="34" charset="-122"/>
                <a:cs typeface="Calibri" pitchFamily="34" charset="-120"/>
              </a:rPr>
              <a:t>All methods, processes, and results are fully understood and can be explained independently.</a:t>
            </a:r>
            <a:endParaRPr lang="en-US" sz="1500" dirty="0"/>
          </a:p>
          <a:p>
            <a:pPr marL="0" indent="0">
              <a:spcAft>
                <a:spcPts val="400"/>
              </a:spcAft>
              <a:buNone/>
            </a:pPr>
            <a:r>
              <a:rPr lang="en-US" sz="1500" dirty="0">
                <a:solidFill>
                  <a:srgbClr val="1A1A2E"/>
                </a:solidFill>
                <a:latin typeface="Calibri" pitchFamily="34" charset="0"/>
                <a:ea typeface="Calibri" pitchFamily="34" charset="-122"/>
                <a:cs typeface="Calibri" pitchFamily="34" charset="-120"/>
              </a:rPr>
              <a:t> </a:t>
            </a:r>
            <a:endParaRPr lang="en-US" sz="1500" dirty="0"/>
          </a:p>
          <a:p>
            <a:pPr marL="0" indent="0">
              <a:spcAft>
                <a:spcPts val="400"/>
              </a:spcAft>
              <a:buNone/>
            </a:pPr>
            <a:r>
              <a:rPr lang="en-US" sz="1500" dirty="0">
                <a:solidFill>
                  <a:srgbClr val="1A1A2E"/>
                </a:solidFill>
                <a:latin typeface="Calibri" pitchFamily="34" charset="0"/>
                <a:ea typeface="Calibri" pitchFamily="34" charset="-122"/>
                <a:cs typeface="Calibri" pitchFamily="34" charset="-120"/>
              </a:rPr>
              <a:t>Dataset sourced from Kaggle — full citation provided in the References slide.</a:t>
            </a:r>
            <a:endParaRPr lang="en-US" sz="1500" dirty="0"/>
          </a:p>
        </p:txBody>
      </p:sp>
      <p:sp>
        <p:nvSpPr>
          <p:cNvPr id="55" name="Shape 53"/>
          <p:cNvSpPr/>
          <p:nvPr/>
        </p:nvSpPr>
        <p:spPr>
          <a:xfrm>
            <a:off x="457200" y="4434840"/>
            <a:ext cx="8229600" cy="502920"/>
          </a:xfrm>
          <a:prstGeom prst="rect">
            <a:avLst/>
          </a:prstGeom>
          <a:solidFill>
            <a:srgbClr val="E8EFFE"/>
          </a:solidFill>
          <a:ln w="12700">
            <a:solidFill>
              <a:srgbClr val="D0DAFE"/>
            </a:solidFill>
            <a:prstDash val="solid"/>
          </a:ln>
        </p:spPr>
        <p:txBody>
          <a:bodyPr/>
          <a:lstStyle/>
          <a:p>
            <a:endParaRPr lang="en-AU"/>
          </a:p>
        </p:txBody>
      </p:sp>
      <p:sp>
        <p:nvSpPr>
          <p:cNvPr id="56" name="Text 54"/>
          <p:cNvSpPr/>
          <p:nvPr/>
        </p:nvSpPr>
        <p:spPr>
          <a:xfrm>
            <a:off x="548640" y="4453128"/>
            <a:ext cx="8046720" cy="457200"/>
          </a:xfrm>
          <a:prstGeom prst="rect">
            <a:avLst/>
          </a:prstGeom>
          <a:noFill/>
          <a:ln/>
        </p:spPr>
        <p:txBody>
          <a:bodyPr wrap="square" lIns="0" tIns="0" rIns="0" bIns="0" rtlCol="0" anchor="ctr"/>
          <a:lstStyle/>
          <a:p>
            <a:pPr marL="0" indent="0" algn="ctr">
              <a:buNone/>
            </a:pPr>
            <a:r>
              <a:rPr lang="en-US" sz="1100" i="1" dirty="0">
                <a:solidFill>
                  <a:srgbClr val="3D6BF5"/>
                </a:solidFill>
              </a:rPr>
              <a:t>"I understand everything presented in this talk and can explain it independently."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INTRODUCTION</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The Problem</a:t>
            </a:r>
            <a:endParaRPr lang="en-US" sz="2800" dirty="0"/>
          </a:p>
        </p:txBody>
      </p:sp>
      <p:sp>
        <p:nvSpPr>
          <p:cNvPr id="5" name="Text 3"/>
          <p:cNvSpPr/>
          <p:nvPr/>
        </p:nvSpPr>
        <p:spPr>
          <a:xfrm>
            <a:off x="457200" y="1005840"/>
            <a:ext cx="8229600" cy="320040"/>
          </a:xfrm>
          <a:prstGeom prst="rect">
            <a:avLst/>
          </a:prstGeom>
          <a:noFill/>
          <a:ln/>
        </p:spPr>
        <p:txBody>
          <a:bodyPr wrap="square" rtlCol="0" anchor="ctr"/>
          <a:lstStyle/>
          <a:p>
            <a:pPr marL="0" indent="0">
              <a:buNone/>
            </a:pPr>
            <a:r>
              <a:rPr lang="en-US" sz="1300" dirty="0">
                <a:solidFill>
                  <a:srgbClr val="3D6BF5"/>
                </a:solidFill>
                <a:latin typeface="Calibri" pitchFamily="34" charset="0"/>
                <a:ea typeface="Calibri" pitchFamily="34" charset="-122"/>
                <a:cs typeface="Calibri" pitchFamily="34" charset="-120"/>
              </a:rPr>
              <a:t>NBA Salary Misallocation</a:t>
            </a:r>
            <a:endParaRPr lang="en-US" sz="1300" dirty="0"/>
          </a:p>
        </p:txBody>
      </p:sp>
      <p:sp>
        <p:nvSpPr>
          <p:cNvPr id="6" name="Shape 4"/>
          <p:cNvSpPr/>
          <p:nvPr/>
        </p:nvSpPr>
        <p:spPr>
          <a:xfrm>
            <a:off x="457200" y="1371600"/>
            <a:ext cx="2560320" cy="1188720"/>
          </a:xfrm>
          <a:prstGeom prst="rect">
            <a:avLst/>
          </a:prstGeom>
          <a:solidFill>
            <a:srgbClr val="EFF3FF"/>
          </a:solidFill>
          <a:ln w="19050">
            <a:solidFill>
              <a:srgbClr val="3D6BF5"/>
            </a:solidFill>
            <a:prstDash val="solid"/>
          </a:ln>
          <a:effectLst>
            <a:outerShdw blurRad="76200" dist="12700" dir="8100000" algn="bl" rotWithShape="0">
              <a:srgbClr val="BBCCEE">
                <a:alpha val="40000"/>
              </a:srgbClr>
            </a:outerShdw>
          </a:effectLst>
        </p:spPr>
        <p:txBody>
          <a:bodyPr/>
          <a:lstStyle/>
          <a:p>
            <a:endParaRPr lang="en-AU"/>
          </a:p>
        </p:txBody>
      </p:sp>
      <p:sp>
        <p:nvSpPr>
          <p:cNvPr id="7" name="Shape 5"/>
          <p:cNvSpPr/>
          <p:nvPr/>
        </p:nvSpPr>
        <p:spPr>
          <a:xfrm>
            <a:off x="457200" y="1371600"/>
            <a:ext cx="2560320" cy="45720"/>
          </a:xfrm>
          <a:prstGeom prst="rect">
            <a:avLst/>
          </a:prstGeom>
          <a:solidFill>
            <a:srgbClr val="3D6BF5"/>
          </a:solidFill>
          <a:ln w="12700">
            <a:solidFill>
              <a:srgbClr val="3D6BF5"/>
            </a:solidFill>
            <a:prstDash val="solid"/>
          </a:ln>
        </p:spPr>
        <p:txBody>
          <a:bodyPr/>
          <a:lstStyle/>
          <a:p>
            <a:endParaRPr lang="en-AU"/>
          </a:p>
        </p:txBody>
      </p:sp>
      <p:sp>
        <p:nvSpPr>
          <p:cNvPr id="8" name="Text 6"/>
          <p:cNvSpPr/>
          <p:nvPr/>
        </p:nvSpPr>
        <p:spPr>
          <a:xfrm>
            <a:off x="548640" y="1508760"/>
            <a:ext cx="2377440" cy="653796"/>
          </a:xfrm>
          <a:prstGeom prst="rect">
            <a:avLst/>
          </a:prstGeom>
          <a:noFill/>
          <a:ln/>
        </p:spPr>
        <p:txBody>
          <a:bodyPr wrap="square" lIns="0" tIns="0" rIns="0" bIns="0" rtlCol="0" anchor="ctr"/>
          <a:lstStyle/>
          <a:p>
            <a:pPr marL="0" indent="0" algn="ctr">
              <a:buNone/>
            </a:pPr>
            <a:r>
              <a:rPr lang="en-US" sz="2200" b="1" dirty="0">
                <a:solidFill>
                  <a:srgbClr val="3D6BF5"/>
                </a:solidFill>
              </a:rPr>
              <a:t>$136M</a:t>
            </a:r>
            <a:endParaRPr lang="en-US" sz="2200" dirty="0"/>
          </a:p>
        </p:txBody>
      </p:sp>
      <p:sp>
        <p:nvSpPr>
          <p:cNvPr id="9" name="Text 7"/>
          <p:cNvSpPr/>
          <p:nvPr/>
        </p:nvSpPr>
        <p:spPr>
          <a:xfrm>
            <a:off x="548640" y="2084832"/>
            <a:ext cx="2377440" cy="451714"/>
          </a:xfrm>
          <a:prstGeom prst="rect">
            <a:avLst/>
          </a:prstGeom>
          <a:noFill/>
          <a:ln/>
        </p:spPr>
        <p:txBody>
          <a:bodyPr wrap="square" lIns="0" tIns="0" rIns="0" bIns="0" rtlCol="0" anchor="ctr"/>
          <a:lstStyle/>
          <a:p>
            <a:pPr marL="0" indent="0" algn="ctr">
              <a:buNone/>
            </a:pPr>
            <a:r>
              <a:rPr lang="en-US" sz="900" dirty="0">
                <a:solidFill>
                  <a:srgbClr val="555B6E"/>
                </a:solidFill>
              </a:rPr>
              <a:t>NBA Hard Salary Cap</a:t>
            </a:r>
            <a:endParaRPr lang="en-US" sz="900" dirty="0"/>
          </a:p>
          <a:p>
            <a:pPr marL="0" indent="0" algn="ctr">
              <a:buNone/>
            </a:pPr>
            <a:r>
              <a:rPr lang="en-US" sz="900" dirty="0">
                <a:solidFill>
                  <a:srgbClr val="555B6E"/>
                </a:solidFill>
              </a:rPr>
              <a:t>(2022–23 Season)</a:t>
            </a:r>
            <a:endParaRPr lang="en-US" sz="900" dirty="0"/>
          </a:p>
        </p:txBody>
      </p:sp>
      <p:sp>
        <p:nvSpPr>
          <p:cNvPr id="10" name="Shape 8"/>
          <p:cNvSpPr/>
          <p:nvPr/>
        </p:nvSpPr>
        <p:spPr>
          <a:xfrm>
            <a:off x="3291840" y="1371600"/>
            <a:ext cx="2560320" cy="1188720"/>
          </a:xfrm>
          <a:prstGeom prst="rect">
            <a:avLst/>
          </a:prstGeom>
          <a:solidFill>
            <a:srgbClr val="EFF3FF"/>
          </a:solidFill>
          <a:ln w="19050">
            <a:solidFill>
              <a:srgbClr val="E8274B"/>
            </a:solidFill>
            <a:prstDash val="solid"/>
          </a:ln>
          <a:effectLst>
            <a:outerShdw blurRad="76200" dist="12700" dir="8100000" algn="bl" rotWithShape="0">
              <a:srgbClr val="BBCCEE">
                <a:alpha val="40000"/>
              </a:srgbClr>
            </a:outerShdw>
          </a:effectLst>
        </p:spPr>
        <p:txBody>
          <a:bodyPr/>
          <a:lstStyle/>
          <a:p>
            <a:endParaRPr lang="en-AU"/>
          </a:p>
        </p:txBody>
      </p:sp>
      <p:sp>
        <p:nvSpPr>
          <p:cNvPr id="11" name="Shape 9"/>
          <p:cNvSpPr/>
          <p:nvPr/>
        </p:nvSpPr>
        <p:spPr>
          <a:xfrm>
            <a:off x="3291840" y="1371600"/>
            <a:ext cx="2560320" cy="45720"/>
          </a:xfrm>
          <a:prstGeom prst="rect">
            <a:avLst/>
          </a:prstGeom>
          <a:solidFill>
            <a:srgbClr val="E8274B"/>
          </a:solidFill>
          <a:ln w="12700">
            <a:solidFill>
              <a:srgbClr val="E8274B"/>
            </a:solidFill>
            <a:prstDash val="solid"/>
          </a:ln>
        </p:spPr>
        <p:txBody>
          <a:bodyPr/>
          <a:lstStyle/>
          <a:p>
            <a:endParaRPr lang="en-AU"/>
          </a:p>
        </p:txBody>
      </p:sp>
      <p:sp>
        <p:nvSpPr>
          <p:cNvPr id="12" name="Text 10"/>
          <p:cNvSpPr/>
          <p:nvPr/>
        </p:nvSpPr>
        <p:spPr>
          <a:xfrm>
            <a:off x="3383280" y="1508760"/>
            <a:ext cx="2377440" cy="653796"/>
          </a:xfrm>
          <a:prstGeom prst="rect">
            <a:avLst/>
          </a:prstGeom>
          <a:noFill/>
          <a:ln/>
        </p:spPr>
        <p:txBody>
          <a:bodyPr wrap="square" lIns="0" tIns="0" rIns="0" bIns="0" rtlCol="0" anchor="ctr"/>
          <a:lstStyle/>
          <a:p>
            <a:pPr marL="0" indent="0" algn="ctr">
              <a:buNone/>
            </a:pPr>
            <a:r>
              <a:rPr lang="en-US" sz="2200" b="1" dirty="0">
                <a:solidFill>
                  <a:srgbClr val="E8274B"/>
                </a:solidFill>
              </a:rPr>
              <a:t>$40–50M</a:t>
            </a:r>
            <a:endParaRPr lang="en-US" sz="2200" dirty="0"/>
          </a:p>
        </p:txBody>
      </p:sp>
      <p:sp>
        <p:nvSpPr>
          <p:cNvPr id="13" name="Text 11"/>
          <p:cNvSpPr/>
          <p:nvPr/>
        </p:nvSpPr>
        <p:spPr>
          <a:xfrm>
            <a:off x="3383280" y="2084832"/>
            <a:ext cx="2377440" cy="451714"/>
          </a:xfrm>
          <a:prstGeom prst="rect">
            <a:avLst/>
          </a:prstGeom>
          <a:noFill/>
          <a:ln/>
        </p:spPr>
        <p:txBody>
          <a:bodyPr wrap="square" lIns="0" tIns="0" rIns="0" bIns="0" rtlCol="0" anchor="ctr"/>
          <a:lstStyle/>
          <a:p>
            <a:pPr marL="0" indent="0" algn="ctr">
              <a:buNone/>
            </a:pPr>
            <a:r>
              <a:rPr lang="en-US" sz="900" dirty="0">
                <a:solidFill>
                  <a:srgbClr val="555B6E"/>
                </a:solidFill>
              </a:rPr>
              <a:t>Annual Max Contract</a:t>
            </a:r>
            <a:endParaRPr lang="en-US" sz="900" dirty="0"/>
          </a:p>
          <a:p>
            <a:pPr marL="0" indent="0" algn="ctr">
              <a:buNone/>
            </a:pPr>
            <a:r>
              <a:rPr lang="en-US" sz="900" dirty="0">
                <a:solidFill>
                  <a:srgbClr val="555B6E"/>
                </a:solidFill>
              </a:rPr>
              <a:t>(4–5 Years)</a:t>
            </a:r>
            <a:endParaRPr lang="en-US" sz="900" dirty="0"/>
          </a:p>
        </p:txBody>
      </p:sp>
      <p:sp>
        <p:nvSpPr>
          <p:cNvPr id="14" name="Shape 12"/>
          <p:cNvSpPr/>
          <p:nvPr/>
        </p:nvSpPr>
        <p:spPr>
          <a:xfrm>
            <a:off x="6126480" y="1371600"/>
            <a:ext cx="2560320" cy="1188720"/>
          </a:xfrm>
          <a:prstGeom prst="rect">
            <a:avLst/>
          </a:prstGeom>
          <a:solidFill>
            <a:srgbClr val="EFF3FF"/>
          </a:solidFill>
          <a:ln w="19050">
            <a:solidFill>
              <a:srgbClr val="E6A817"/>
            </a:solidFill>
            <a:prstDash val="solid"/>
          </a:ln>
          <a:effectLst>
            <a:outerShdw blurRad="76200" dist="12700" dir="8100000" algn="bl" rotWithShape="0">
              <a:srgbClr val="BBCCEE">
                <a:alpha val="40000"/>
              </a:srgbClr>
            </a:outerShdw>
          </a:effectLst>
        </p:spPr>
        <p:txBody>
          <a:bodyPr/>
          <a:lstStyle/>
          <a:p>
            <a:endParaRPr lang="en-AU"/>
          </a:p>
        </p:txBody>
      </p:sp>
      <p:sp>
        <p:nvSpPr>
          <p:cNvPr id="15" name="Shape 13"/>
          <p:cNvSpPr/>
          <p:nvPr/>
        </p:nvSpPr>
        <p:spPr>
          <a:xfrm>
            <a:off x="6126480" y="1371600"/>
            <a:ext cx="2560320" cy="45720"/>
          </a:xfrm>
          <a:prstGeom prst="rect">
            <a:avLst/>
          </a:prstGeom>
          <a:solidFill>
            <a:srgbClr val="E6A817"/>
          </a:solidFill>
          <a:ln w="12700">
            <a:solidFill>
              <a:srgbClr val="E6A817"/>
            </a:solidFill>
            <a:prstDash val="solid"/>
          </a:ln>
        </p:spPr>
        <p:txBody>
          <a:bodyPr/>
          <a:lstStyle/>
          <a:p>
            <a:endParaRPr lang="en-AU"/>
          </a:p>
        </p:txBody>
      </p:sp>
      <p:sp>
        <p:nvSpPr>
          <p:cNvPr id="16" name="Text 14"/>
          <p:cNvSpPr/>
          <p:nvPr/>
        </p:nvSpPr>
        <p:spPr>
          <a:xfrm>
            <a:off x="6217920" y="1508760"/>
            <a:ext cx="2377440" cy="653796"/>
          </a:xfrm>
          <a:prstGeom prst="rect">
            <a:avLst/>
          </a:prstGeom>
          <a:noFill/>
          <a:ln/>
        </p:spPr>
        <p:txBody>
          <a:bodyPr wrap="square" lIns="0" tIns="0" rIns="0" bIns="0" rtlCol="0" anchor="ctr"/>
          <a:lstStyle/>
          <a:p>
            <a:pPr marL="0" indent="0" algn="ctr">
              <a:buNone/>
            </a:pPr>
            <a:r>
              <a:rPr lang="en-US" sz="2200" b="1" dirty="0">
                <a:solidFill>
                  <a:srgbClr val="E6A817"/>
                </a:solidFill>
              </a:rPr>
              <a:t>$880K</a:t>
            </a:r>
            <a:endParaRPr lang="en-US" sz="2200" dirty="0"/>
          </a:p>
        </p:txBody>
      </p:sp>
      <p:sp>
        <p:nvSpPr>
          <p:cNvPr id="17" name="Text 15"/>
          <p:cNvSpPr/>
          <p:nvPr/>
        </p:nvSpPr>
        <p:spPr>
          <a:xfrm>
            <a:off x="6217920" y="2084832"/>
            <a:ext cx="2377440" cy="451714"/>
          </a:xfrm>
          <a:prstGeom prst="rect">
            <a:avLst/>
          </a:prstGeom>
          <a:noFill/>
          <a:ln/>
        </p:spPr>
        <p:txBody>
          <a:bodyPr wrap="square" lIns="0" tIns="0" rIns="0" bIns="0" rtlCol="0" anchor="ctr"/>
          <a:lstStyle/>
          <a:p>
            <a:pPr marL="0" indent="0" algn="ctr">
              <a:buNone/>
            </a:pPr>
            <a:r>
              <a:rPr lang="en-US" sz="900" dirty="0">
                <a:solidFill>
                  <a:srgbClr val="555B6E"/>
                </a:solidFill>
              </a:rPr>
              <a:t>Ben Simmons — Cost Per</a:t>
            </a:r>
            <a:endParaRPr lang="en-US" sz="900" dirty="0"/>
          </a:p>
          <a:p>
            <a:pPr marL="0" indent="0" algn="ctr">
              <a:buNone/>
            </a:pPr>
            <a:r>
              <a:rPr lang="en-US" sz="900" dirty="0">
                <a:solidFill>
                  <a:srgbClr val="555B6E"/>
                </a:solidFill>
              </a:rPr>
              <a:t>Game Played (2022–23)</a:t>
            </a:r>
            <a:endParaRPr lang="en-US" sz="900" dirty="0"/>
          </a:p>
        </p:txBody>
      </p:sp>
      <p:sp>
        <p:nvSpPr>
          <p:cNvPr id="18" name="Shape 16"/>
          <p:cNvSpPr/>
          <p:nvPr/>
        </p:nvSpPr>
        <p:spPr>
          <a:xfrm>
            <a:off x="457200" y="2788920"/>
            <a:ext cx="8229600" cy="868680"/>
          </a:xfrm>
          <a:prstGeom prst="rect">
            <a:avLst/>
          </a:prstGeom>
          <a:solidFill>
            <a:srgbClr val="EFF3FF"/>
          </a:solidFill>
          <a:ln w="12700">
            <a:solidFill>
              <a:srgbClr val="E6A817"/>
            </a:solidFill>
            <a:prstDash val="solid"/>
          </a:ln>
          <a:effectLst>
            <a:outerShdw blurRad="50800" dist="12700" dir="8100000" algn="bl" rotWithShape="0">
              <a:srgbClr val="BBCCEE">
                <a:alpha val="35000"/>
              </a:srgbClr>
            </a:outerShdw>
          </a:effectLst>
        </p:spPr>
        <p:txBody>
          <a:bodyPr/>
          <a:lstStyle/>
          <a:p>
            <a:endParaRPr lang="en-AU"/>
          </a:p>
        </p:txBody>
      </p:sp>
      <p:sp>
        <p:nvSpPr>
          <p:cNvPr id="19" name="Text 17"/>
          <p:cNvSpPr/>
          <p:nvPr/>
        </p:nvSpPr>
        <p:spPr>
          <a:xfrm>
            <a:off x="685800" y="2852928"/>
            <a:ext cx="7772400" cy="749808"/>
          </a:xfrm>
          <a:prstGeom prst="rect">
            <a:avLst/>
          </a:prstGeom>
          <a:noFill/>
          <a:ln/>
        </p:spPr>
        <p:txBody>
          <a:bodyPr wrap="square" lIns="0" tIns="0" rIns="0" bIns="0" rtlCol="0" anchor="ctr"/>
          <a:lstStyle/>
          <a:p>
            <a:pPr marL="0" indent="0">
              <a:buNone/>
            </a:pPr>
            <a:r>
              <a:rPr lang="en-US" sz="1200" i="1" dirty="0">
                <a:solidFill>
                  <a:srgbClr val="E6A817"/>
                </a:solidFill>
              </a:rPr>
              <a:t>"In 2023, Ben Simmons earned $37M for the Brooklyn Nets — playing 42 games at a role-player level. While players earning a fraction of that were contributing more wins."</a:t>
            </a:r>
            <a:endParaRPr lang="en-US" sz="1200" dirty="0"/>
          </a:p>
        </p:txBody>
      </p:sp>
      <p:sp>
        <p:nvSpPr>
          <p:cNvPr id="20" name="Shape 18"/>
          <p:cNvSpPr/>
          <p:nvPr/>
        </p:nvSpPr>
        <p:spPr>
          <a:xfrm>
            <a:off x="7772400"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1" name="Shape 19"/>
          <p:cNvSpPr/>
          <p:nvPr/>
        </p:nvSpPr>
        <p:spPr>
          <a:xfrm>
            <a:off x="8028432"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2" name="Shape 20"/>
          <p:cNvSpPr/>
          <p:nvPr/>
        </p:nvSpPr>
        <p:spPr>
          <a:xfrm>
            <a:off x="8284464"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3" name="Shape 21"/>
          <p:cNvSpPr/>
          <p:nvPr/>
        </p:nvSpPr>
        <p:spPr>
          <a:xfrm>
            <a:off x="8540496"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4" name="Shape 22"/>
          <p:cNvSpPr/>
          <p:nvPr/>
        </p:nvSpPr>
        <p:spPr>
          <a:xfrm>
            <a:off x="8796528"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5" name="Shape 23"/>
          <p:cNvSpPr/>
          <p:nvPr/>
        </p:nvSpPr>
        <p:spPr>
          <a:xfrm>
            <a:off x="7772400"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6" name="Shape 24"/>
          <p:cNvSpPr/>
          <p:nvPr/>
        </p:nvSpPr>
        <p:spPr>
          <a:xfrm>
            <a:off x="8028432"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7" name="Shape 25"/>
          <p:cNvSpPr/>
          <p:nvPr/>
        </p:nvSpPr>
        <p:spPr>
          <a:xfrm>
            <a:off x="8284464"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8" name="Shape 26"/>
          <p:cNvSpPr/>
          <p:nvPr/>
        </p:nvSpPr>
        <p:spPr>
          <a:xfrm>
            <a:off x="8540496"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9" name="Shape 27"/>
          <p:cNvSpPr/>
          <p:nvPr/>
        </p:nvSpPr>
        <p:spPr>
          <a:xfrm>
            <a:off x="8796528"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0" name="Shape 28"/>
          <p:cNvSpPr/>
          <p:nvPr/>
        </p:nvSpPr>
        <p:spPr>
          <a:xfrm>
            <a:off x="7772400"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1" name="Shape 29"/>
          <p:cNvSpPr/>
          <p:nvPr/>
        </p:nvSpPr>
        <p:spPr>
          <a:xfrm>
            <a:off x="8028432"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2" name="Shape 30"/>
          <p:cNvSpPr/>
          <p:nvPr/>
        </p:nvSpPr>
        <p:spPr>
          <a:xfrm>
            <a:off x="8284464"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3" name="Shape 31"/>
          <p:cNvSpPr/>
          <p:nvPr/>
        </p:nvSpPr>
        <p:spPr>
          <a:xfrm>
            <a:off x="8540496"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4" name="Shape 32"/>
          <p:cNvSpPr/>
          <p:nvPr/>
        </p:nvSpPr>
        <p:spPr>
          <a:xfrm>
            <a:off x="8796528"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5" name="Shape 33"/>
          <p:cNvSpPr/>
          <p:nvPr/>
        </p:nvSpPr>
        <p:spPr>
          <a:xfrm>
            <a:off x="7772400"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6" name="Shape 34"/>
          <p:cNvSpPr/>
          <p:nvPr/>
        </p:nvSpPr>
        <p:spPr>
          <a:xfrm>
            <a:off x="8028432"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7" name="Shape 35"/>
          <p:cNvSpPr/>
          <p:nvPr/>
        </p:nvSpPr>
        <p:spPr>
          <a:xfrm>
            <a:off x="8284464"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8" name="Shape 36"/>
          <p:cNvSpPr/>
          <p:nvPr/>
        </p:nvSpPr>
        <p:spPr>
          <a:xfrm>
            <a:off x="8540496"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9" name="Shape 37"/>
          <p:cNvSpPr/>
          <p:nvPr/>
        </p:nvSpPr>
        <p:spPr>
          <a:xfrm>
            <a:off x="8796528"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0" name="Shape 38"/>
          <p:cNvSpPr/>
          <p:nvPr/>
        </p:nvSpPr>
        <p:spPr>
          <a:xfrm>
            <a:off x="7772400"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1" name="Shape 39"/>
          <p:cNvSpPr/>
          <p:nvPr/>
        </p:nvSpPr>
        <p:spPr>
          <a:xfrm>
            <a:off x="8028432"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2" name="Shape 40"/>
          <p:cNvSpPr/>
          <p:nvPr/>
        </p:nvSpPr>
        <p:spPr>
          <a:xfrm>
            <a:off x="8284464"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3" name="Shape 41"/>
          <p:cNvSpPr/>
          <p:nvPr/>
        </p:nvSpPr>
        <p:spPr>
          <a:xfrm>
            <a:off x="8540496"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4" name="Shape 42"/>
          <p:cNvSpPr/>
          <p:nvPr/>
        </p:nvSpPr>
        <p:spPr>
          <a:xfrm>
            <a:off x="8796528"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5" name="Text 43"/>
          <p:cNvSpPr/>
          <p:nvPr/>
        </p:nvSpPr>
        <p:spPr>
          <a:xfrm>
            <a:off x="457200" y="3749040"/>
            <a:ext cx="8229600" cy="1188720"/>
          </a:xfrm>
          <a:prstGeom prst="rect">
            <a:avLst/>
          </a:prstGeom>
          <a:noFill/>
          <a:ln/>
        </p:spPr>
        <p:txBody>
          <a:bodyPr wrap="square" rtlCol="0" anchor="t"/>
          <a:lstStyle/>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Every dollar overspent on 1 player -&gt; reduces budget for the rest of the roster.</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Salary negotiations are driven by reputation, highlights, and agent leverage — not pure performance.</a:t>
            </a:r>
            <a:endParaRPr lang="en-US" sz="1250" dirty="0"/>
          </a:p>
          <a:p>
            <a:pPr marL="342900" indent="-342900">
              <a:spcAft>
                <a:spcPts val="600"/>
              </a:spcAft>
              <a:buSzPct val="100000"/>
              <a:buChar char="▶"/>
            </a:pPr>
            <a:r>
              <a:rPr lang="en-US" sz="1250" dirty="0">
                <a:solidFill>
                  <a:srgbClr val="1A1A2E"/>
                </a:solidFill>
                <a:latin typeface="Calibri" pitchFamily="34" charset="0"/>
                <a:ea typeface="Calibri" pitchFamily="34" charset="-122"/>
                <a:cs typeface="Calibri" pitchFamily="34" charset="-120"/>
              </a:rPr>
              <a:t>No systematic method to flag salary anomalies before signing.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PROBLEM FRAMING</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Mapping to a Data Mining Problem</a:t>
            </a:r>
            <a:endParaRPr lang="en-US" sz="2800" dirty="0"/>
          </a:p>
        </p:txBody>
      </p:sp>
      <p:sp>
        <p:nvSpPr>
          <p:cNvPr id="5" name="Shape 3"/>
          <p:cNvSpPr/>
          <p:nvPr/>
        </p:nvSpPr>
        <p:spPr>
          <a:xfrm>
            <a:off x="457200" y="1371600"/>
            <a:ext cx="2651760" cy="3474720"/>
          </a:xfrm>
          <a:prstGeom prst="rect">
            <a:avLst/>
          </a:prstGeom>
          <a:solidFill>
            <a:srgbClr val="EFF3FF"/>
          </a:solidFill>
          <a:ln w="12700">
            <a:solidFill>
              <a:srgbClr val="E8274B"/>
            </a:solidFill>
            <a:prstDash val="solid"/>
          </a:ln>
          <a:effectLst>
            <a:outerShdw blurRad="50800" dist="12700" dir="8100000" algn="bl" rotWithShape="0">
              <a:srgbClr val="BBCCEE">
                <a:alpha val="35000"/>
              </a:srgbClr>
            </a:outerShdw>
          </a:effectLst>
        </p:spPr>
        <p:txBody>
          <a:bodyPr/>
          <a:lstStyle/>
          <a:p>
            <a:endParaRPr lang="en-AU"/>
          </a:p>
        </p:txBody>
      </p:sp>
      <p:sp>
        <p:nvSpPr>
          <p:cNvPr id="6" name="Shape 4"/>
          <p:cNvSpPr/>
          <p:nvPr/>
        </p:nvSpPr>
        <p:spPr>
          <a:xfrm>
            <a:off x="457200" y="1371600"/>
            <a:ext cx="2651760" cy="45720"/>
          </a:xfrm>
          <a:prstGeom prst="rect">
            <a:avLst/>
          </a:prstGeom>
          <a:solidFill>
            <a:srgbClr val="E8274B"/>
          </a:solidFill>
          <a:ln w="12700">
            <a:solidFill>
              <a:srgbClr val="E8274B"/>
            </a:solidFill>
            <a:prstDash val="solid"/>
          </a:ln>
        </p:spPr>
        <p:txBody>
          <a:bodyPr/>
          <a:lstStyle/>
          <a:p>
            <a:endParaRPr lang="en-AU"/>
          </a:p>
        </p:txBody>
      </p:sp>
      <p:sp>
        <p:nvSpPr>
          <p:cNvPr id="7" name="Text 5"/>
          <p:cNvSpPr/>
          <p:nvPr/>
        </p:nvSpPr>
        <p:spPr>
          <a:xfrm>
            <a:off x="548640" y="1417320"/>
            <a:ext cx="2468880" cy="411480"/>
          </a:xfrm>
          <a:prstGeom prst="rect">
            <a:avLst/>
          </a:prstGeom>
          <a:noFill/>
          <a:ln/>
        </p:spPr>
        <p:txBody>
          <a:bodyPr wrap="square" lIns="0" tIns="0" rIns="0" bIns="0" rtlCol="0" anchor="ctr"/>
          <a:lstStyle/>
          <a:p>
            <a:pPr marL="0" indent="0">
              <a:buNone/>
            </a:pPr>
            <a:r>
              <a:rPr lang="en-US" sz="1300" b="1" dirty="0">
                <a:solidFill>
                  <a:srgbClr val="E8274B"/>
                </a:solidFill>
              </a:rPr>
              <a:t>✗  NOT These</a:t>
            </a:r>
            <a:endParaRPr lang="en-US" sz="1300" dirty="0"/>
          </a:p>
        </p:txBody>
      </p:sp>
      <p:sp>
        <p:nvSpPr>
          <p:cNvPr id="8" name="Text 6"/>
          <p:cNvSpPr/>
          <p:nvPr/>
        </p:nvSpPr>
        <p:spPr>
          <a:xfrm>
            <a:off x="548640" y="1920240"/>
            <a:ext cx="2468880" cy="2834640"/>
          </a:xfrm>
          <a:prstGeom prst="rect">
            <a:avLst/>
          </a:prstGeom>
          <a:noFill/>
          <a:ln/>
        </p:spPr>
        <p:txBody>
          <a:bodyPr wrap="square" rtlCol="0" anchor="t"/>
          <a:lstStyle/>
          <a:p>
            <a:pPr marL="342900" indent="-342900">
              <a:spcAft>
                <a:spcPts val="200"/>
              </a:spcAft>
              <a:buSzPct val="100000"/>
              <a:buChar char="•"/>
            </a:pPr>
            <a:r>
              <a:rPr lang="en-US" sz="1050" b="1" dirty="0">
                <a:solidFill>
                  <a:srgbClr val="E8274B"/>
                </a:solidFill>
                <a:latin typeface="Calibri" pitchFamily="34" charset="0"/>
                <a:ea typeface="Calibri" pitchFamily="34" charset="-122"/>
                <a:cs typeface="Calibri" pitchFamily="34" charset="-120"/>
              </a:rPr>
              <a:t>Classification</a:t>
            </a:r>
            <a:endParaRPr lang="en-US" sz="1050" dirty="0"/>
          </a:p>
          <a:p>
            <a:pPr marL="254000" indent="-2540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No pre-labelled 'overpaid' examples (ground truth unknown)</a:t>
            </a:r>
            <a:endParaRPr lang="en-US" sz="1050" dirty="0"/>
          </a:p>
          <a:p>
            <a:pPr marL="0" indent="0">
              <a:spcAft>
                <a:spcPts val="200"/>
              </a:spcAft>
              <a:buNone/>
            </a:pPr>
            <a:r>
              <a:rPr lang="en-US" sz="500" dirty="0">
                <a:solidFill>
                  <a:srgbClr val="000000"/>
                </a:solidFill>
                <a:latin typeface="Calibri" pitchFamily="34" charset="0"/>
                <a:ea typeface="Calibri" pitchFamily="34" charset="-122"/>
                <a:cs typeface="Calibri" pitchFamily="34" charset="-120"/>
              </a:rPr>
              <a:t> </a:t>
            </a:r>
            <a:endParaRPr lang="en-US" sz="1050" dirty="0"/>
          </a:p>
          <a:p>
            <a:pPr marL="342900" indent="-342900">
              <a:spcAft>
                <a:spcPts val="200"/>
              </a:spcAft>
              <a:buSzPct val="100000"/>
              <a:buChar char="•"/>
            </a:pPr>
            <a:r>
              <a:rPr lang="en-US" sz="1050" b="1" dirty="0">
                <a:solidFill>
                  <a:srgbClr val="E8274B"/>
                </a:solidFill>
                <a:latin typeface="Calibri" pitchFamily="34" charset="0"/>
                <a:ea typeface="Calibri" pitchFamily="34" charset="-122"/>
                <a:cs typeface="Calibri" pitchFamily="34" charset="-120"/>
              </a:rPr>
              <a:t>Regression</a:t>
            </a:r>
            <a:endParaRPr lang="en-US" sz="1050" dirty="0"/>
          </a:p>
          <a:p>
            <a:pPr marL="254000" indent="-2540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Predicts salary — we detect deviations, not predict values</a:t>
            </a:r>
            <a:endParaRPr lang="en-US" sz="1050" dirty="0"/>
          </a:p>
          <a:p>
            <a:pPr marL="0" indent="0">
              <a:spcAft>
                <a:spcPts val="200"/>
              </a:spcAft>
              <a:buNone/>
            </a:pPr>
            <a:r>
              <a:rPr lang="en-US" sz="500" dirty="0">
                <a:solidFill>
                  <a:srgbClr val="000000"/>
                </a:solidFill>
                <a:latin typeface="Calibri" pitchFamily="34" charset="0"/>
                <a:ea typeface="Calibri" pitchFamily="34" charset="-122"/>
                <a:cs typeface="Calibri" pitchFamily="34" charset="-120"/>
              </a:rPr>
              <a:t> </a:t>
            </a:r>
            <a:endParaRPr lang="en-US" sz="1050" dirty="0"/>
          </a:p>
          <a:p>
            <a:pPr marL="342900" indent="-342900">
              <a:spcAft>
                <a:spcPts val="200"/>
              </a:spcAft>
              <a:buSzPct val="100000"/>
              <a:buChar char="•"/>
            </a:pPr>
            <a:r>
              <a:rPr lang="en-US" sz="1050" b="1" dirty="0">
                <a:solidFill>
                  <a:srgbClr val="E8274B"/>
                </a:solidFill>
                <a:latin typeface="Calibri" pitchFamily="34" charset="0"/>
                <a:ea typeface="Calibri" pitchFamily="34" charset="-122"/>
                <a:cs typeface="Calibri" pitchFamily="34" charset="-120"/>
              </a:rPr>
              <a:t>Clustering (K-Means)</a:t>
            </a:r>
            <a:endParaRPr lang="en-US" sz="1050" dirty="0"/>
          </a:p>
          <a:p>
            <a:pPr marL="254000" indent="-2540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Requires knowing cluster count in advance</a:t>
            </a:r>
            <a:endParaRPr lang="en-US" sz="1050" dirty="0"/>
          </a:p>
        </p:txBody>
      </p:sp>
      <p:sp>
        <p:nvSpPr>
          <p:cNvPr id="9" name="Shape 7"/>
          <p:cNvSpPr/>
          <p:nvPr/>
        </p:nvSpPr>
        <p:spPr>
          <a:xfrm>
            <a:off x="3383280" y="1371600"/>
            <a:ext cx="5303520" cy="3474720"/>
          </a:xfrm>
          <a:prstGeom prst="rect">
            <a:avLst/>
          </a:prstGeom>
          <a:solidFill>
            <a:srgbClr val="EFF3FF"/>
          </a:solidFill>
          <a:ln w="12700">
            <a:solidFill>
              <a:srgbClr val="00A87A"/>
            </a:solidFill>
            <a:prstDash val="solid"/>
          </a:ln>
          <a:effectLst>
            <a:outerShdw blurRad="50800" dist="12700" dir="8100000" algn="bl" rotWithShape="0">
              <a:srgbClr val="BBCCEE">
                <a:alpha val="35000"/>
              </a:srgbClr>
            </a:outerShdw>
          </a:effectLst>
        </p:spPr>
        <p:txBody>
          <a:bodyPr/>
          <a:lstStyle/>
          <a:p>
            <a:endParaRPr lang="en-AU"/>
          </a:p>
        </p:txBody>
      </p:sp>
      <p:sp>
        <p:nvSpPr>
          <p:cNvPr id="10" name="Shape 8"/>
          <p:cNvSpPr/>
          <p:nvPr/>
        </p:nvSpPr>
        <p:spPr>
          <a:xfrm>
            <a:off x="3383280" y="1371600"/>
            <a:ext cx="5303520" cy="45720"/>
          </a:xfrm>
          <a:prstGeom prst="rect">
            <a:avLst/>
          </a:prstGeom>
          <a:solidFill>
            <a:srgbClr val="00A87A"/>
          </a:solidFill>
          <a:ln w="12700">
            <a:solidFill>
              <a:srgbClr val="00A87A"/>
            </a:solidFill>
            <a:prstDash val="solid"/>
          </a:ln>
        </p:spPr>
        <p:txBody>
          <a:bodyPr/>
          <a:lstStyle/>
          <a:p>
            <a:endParaRPr lang="en-AU"/>
          </a:p>
        </p:txBody>
      </p:sp>
      <p:sp>
        <p:nvSpPr>
          <p:cNvPr id="11" name="Text 9"/>
          <p:cNvSpPr/>
          <p:nvPr/>
        </p:nvSpPr>
        <p:spPr>
          <a:xfrm>
            <a:off x="3520440" y="1417320"/>
            <a:ext cx="5120640" cy="411480"/>
          </a:xfrm>
          <a:prstGeom prst="rect">
            <a:avLst/>
          </a:prstGeom>
          <a:noFill/>
          <a:ln/>
        </p:spPr>
        <p:txBody>
          <a:bodyPr wrap="square" lIns="0" tIns="0" rIns="0" bIns="0" rtlCol="0" anchor="ctr"/>
          <a:lstStyle/>
          <a:p>
            <a:pPr marL="0" indent="0">
              <a:buNone/>
            </a:pPr>
            <a:r>
              <a:rPr lang="en-US" sz="1300" b="1" dirty="0">
                <a:solidFill>
                  <a:srgbClr val="00A87A"/>
                </a:solidFill>
              </a:rPr>
              <a:t>✓  Outlier / Anomaly Detection</a:t>
            </a:r>
            <a:endParaRPr lang="en-US" sz="1300" dirty="0"/>
          </a:p>
        </p:txBody>
      </p:sp>
      <p:sp>
        <p:nvSpPr>
          <p:cNvPr id="12" name="Text 10"/>
          <p:cNvSpPr/>
          <p:nvPr/>
        </p:nvSpPr>
        <p:spPr>
          <a:xfrm>
            <a:off x="3520440" y="1920240"/>
            <a:ext cx="5029200" cy="2834640"/>
          </a:xfrm>
          <a:prstGeom prst="rect">
            <a:avLst/>
          </a:prstGeom>
          <a:noFill/>
          <a:ln/>
        </p:spPr>
        <p:txBody>
          <a:bodyPr wrap="square" rtlCol="0" anchor="t"/>
          <a:lstStyle/>
          <a:p>
            <a:pPr marL="342900" indent="-342900">
              <a:spcAft>
                <a:spcPts val="100"/>
              </a:spcAft>
              <a:buSzPct val="100000"/>
              <a:buChar char="•"/>
            </a:pPr>
            <a:r>
              <a:rPr lang="en-US" sz="1050" b="1" dirty="0">
                <a:solidFill>
                  <a:srgbClr val="00A87A"/>
                </a:solidFill>
                <a:latin typeface="Calibri" pitchFamily="34" charset="0"/>
                <a:ea typeface="Calibri" pitchFamily="34" charset="-122"/>
                <a:cs typeface="Calibri" pitchFamily="34" charset="-120"/>
              </a:rPr>
              <a:t>No class labels exist</a:t>
            </a:r>
            <a:endParaRPr lang="en-US" sz="1050" dirty="0"/>
          </a:p>
          <a:p>
            <a:pPr marL="254000" indent="-254000">
              <a:spcAft>
                <a:spcPts val="100"/>
              </a:spcAft>
              <a:buSzPct val="100000"/>
              <a:buChar char="•"/>
            </a:pPr>
            <a:r>
              <a:rPr lang="en-US" sz="1050" dirty="0">
                <a:solidFill>
                  <a:srgbClr val="1A1A2E"/>
                </a:solidFill>
                <a:latin typeface="Calibri" pitchFamily="34" charset="0"/>
                <a:ea typeface="Calibri" pitchFamily="34" charset="-122"/>
                <a:cs typeface="Calibri" pitchFamily="34" charset="-120"/>
              </a:rPr>
              <a:t>No certified 'overpaid' set — supervised learning not applicable</a:t>
            </a:r>
            <a:endParaRPr lang="en-US" sz="1050" dirty="0"/>
          </a:p>
          <a:p>
            <a:pPr marL="0" indent="0">
              <a:spcAft>
                <a:spcPts val="100"/>
              </a:spcAft>
              <a:buNone/>
            </a:pPr>
            <a:r>
              <a:rPr lang="en-US" sz="500" dirty="0">
                <a:solidFill>
                  <a:srgbClr val="000000"/>
                </a:solidFill>
                <a:latin typeface="Calibri" pitchFamily="34" charset="0"/>
                <a:ea typeface="Calibri" pitchFamily="34" charset="-122"/>
                <a:cs typeface="Calibri" pitchFamily="34" charset="-120"/>
              </a:rPr>
              <a:t> </a:t>
            </a:r>
            <a:endParaRPr lang="en-US" sz="1050" dirty="0"/>
          </a:p>
          <a:p>
            <a:pPr marL="342900" indent="-342900">
              <a:spcAft>
                <a:spcPts val="100"/>
              </a:spcAft>
              <a:buSzPct val="100000"/>
              <a:buChar char="•"/>
            </a:pPr>
            <a:r>
              <a:rPr lang="en-US" sz="1050" b="1" dirty="0">
                <a:solidFill>
                  <a:srgbClr val="00A87A"/>
                </a:solidFill>
                <a:latin typeface="Calibri" pitchFamily="34" charset="0"/>
                <a:ea typeface="Calibri" pitchFamily="34" charset="-122"/>
                <a:cs typeface="Calibri" pitchFamily="34" charset="-120"/>
              </a:rPr>
              <a:t>Detects statistical deviations</a:t>
            </a:r>
            <a:endParaRPr lang="en-US" sz="1050" dirty="0"/>
          </a:p>
          <a:p>
            <a:pPr marL="254000" indent="-254000">
              <a:spcAft>
                <a:spcPts val="100"/>
              </a:spcAft>
              <a:buSzPct val="100000"/>
              <a:buChar char="•"/>
            </a:pPr>
            <a:r>
              <a:rPr lang="en-US" sz="1050" dirty="0">
                <a:solidFill>
                  <a:srgbClr val="1A1A2E"/>
                </a:solidFill>
                <a:latin typeface="Calibri" pitchFamily="34" charset="0"/>
                <a:ea typeface="Calibri" pitchFamily="34" charset="-122"/>
                <a:cs typeface="Calibri" pitchFamily="34" charset="-120"/>
              </a:rPr>
              <a:t>Flags players anomalous vs the salary-performance pattern of the whole league</a:t>
            </a:r>
            <a:endParaRPr lang="en-US" sz="1050" dirty="0"/>
          </a:p>
          <a:p>
            <a:pPr marL="0" indent="0">
              <a:spcAft>
                <a:spcPts val="100"/>
              </a:spcAft>
              <a:buNone/>
            </a:pPr>
            <a:r>
              <a:rPr lang="en-US" sz="500" dirty="0">
                <a:solidFill>
                  <a:srgbClr val="000000"/>
                </a:solidFill>
                <a:latin typeface="Calibri" pitchFamily="34" charset="0"/>
                <a:ea typeface="Calibri" pitchFamily="34" charset="-122"/>
                <a:cs typeface="Calibri" pitchFamily="34" charset="-120"/>
              </a:rPr>
              <a:t> </a:t>
            </a:r>
            <a:endParaRPr lang="en-US" sz="1050" dirty="0"/>
          </a:p>
          <a:p>
            <a:pPr marL="342900" indent="-342900">
              <a:spcAft>
                <a:spcPts val="100"/>
              </a:spcAft>
              <a:buSzPct val="100000"/>
              <a:buChar char="•"/>
            </a:pPr>
            <a:r>
              <a:rPr lang="en-US" sz="1050" b="1" dirty="0">
                <a:solidFill>
                  <a:srgbClr val="00A87A"/>
                </a:solidFill>
                <a:latin typeface="Calibri" pitchFamily="34" charset="0"/>
                <a:ea typeface="Calibri" pitchFamily="34" charset="-122"/>
                <a:cs typeface="Calibri" pitchFamily="34" charset="-120"/>
              </a:rPr>
              <a:t>Why Isolation Forest:</a:t>
            </a:r>
            <a:endParaRPr lang="en-US" sz="1050" dirty="0"/>
          </a:p>
          <a:p>
            <a:pPr marL="254000" indent="-254000">
              <a:spcAft>
                <a:spcPts val="100"/>
              </a:spcAft>
              <a:buSzPct val="100000"/>
              <a:buChar char="•"/>
            </a:pPr>
            <a:r>
              <a:rPr lang="en-US" sz="1050" dirty="0">
                <a:solidFill>
                  <a:srgbClr val="1A1A2E"/>
                </a:solidFill>
                <a:latin typeface="Calibri" pitchFamily="34" charset="0"/>
                <a:ea typeface="Calibri" pitchFamily="34" charset="-122"/>
                <a:cs typeface="Calibri" pitchFamily="34" charset="-120"/>
              </a:rPr>
              <a:t>Designed for tabular data</a:t>
            </a:r>
            <a:endParaRPr lang="en-US" sz="1050" dirty="0"/>
          </a:p>
          <a:p>
            <a:pPr marL="254000" indent="-254000">
              <a:spcAft>
                <a:spcPts val="100"/>
              </a:spcAft>
              <a:buSzPct val="100000"/>
              <a:buChar char="•"/>
            </a:pPr>
            <a:r>
              <a:rPr lang="en-US" sz="1050" dirty="0">
                <a:solidFill>
                  <a:srgbClr val="1A1A2E"/>
                </a:solidFill>
                <a:latin typeface="Calibri" pitchFamily="34" charset="0"/>
                <a:ea typeface="Calibri" pitchFamily="34" charset="-122"/>
                <a:cs typeface="Calibri" pitchFamily="34" charset="-120"/>
              </a:rPr>
              <a:t>No normality assumption (salary is right-skewed)</a:t>
            </a:r>
            <a:endParaRPr lang="en-US" sz="1050" dirty="0"/>
          </a:p>
          <a:p>
            <a:pPr marL="254000" indent="-254000">
              <a:spcAft>
                <a:spcPts val="100"/>
              </a:spcAft>
              <a:buSzPct val="100000"/>
              <a:buChar char="•"/>
            </a:pPr>
            <a:r>
              <a:rPr lang="en-US" sz="1050" dirty="0">
                <a:solidFill>
                  <a:srgbClr val="1A1A2E"/>
                </a:solidFill>
                <a:latin typeface="Calibri" pitchFamily="34" charset="0"/>
                <a:ea typeface="Calibri" pitchFamily="34" charset="-122"/>
                <a:cs typeface="Calibri" pitchFamily="34" charset="-120"/>
              </a:rPr>
              <a:t>Linear time complexity — scales to 400+ players</a:t>
            </a:r>
            <a:endParaRPr lang="en-US" sz="1050" dirty="0"/>
          </a:p>
          <a:p>
            <a:pPr marL="254000" indent="-254000">
              <a:spcAft>
                <a:spcPts val="100"/>
              </a:spcAft>
              <a:buSzPct val="100000"/>
              <a:buChar char="•"/>
            </a:pPr>
            <a:r>
              <a:rPr lang="en-US" sz="1050" dirty="0">
                <a:solidFill>
                  <a:srgbClr val="1A1A2E"/>
                </a:solidFill>
                <a:latin typeface="Calibri" pitchFamily="34" charset="0"/>
                <a:ea typeface="Calibri" pitchFamily="34" charset="-122"/>
                <a:cs typeface="Calibri" pitchFamily="34" charset="-120"/>
              </a:rPr>
              <a:t>Outperforms distance-based methods (LOF) on global outliers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DATA DESCRIPTION</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Dataset Overview</a:t>
            </a:r>
            <a:endParaRPr lang="en-US" sz="2800" dirty="0"/>
          </a:p>
        </p:txBody>
      </p:sp>
      <p:sp>
        <p:nvSpPr>
          <p:cNvPr id="5" name="Text 3"/>
          <p:cNvSpPr/>
          <p:nvPr/>
        </p:nvSpPr>
        <p:spPr>
          <a:xfrm>
            <a:off x="457200" y="1005840"/>
            <a:ext cx="8229600" cy="320040"/>
          </a:xfrm>
          <a:prstGeom prst="rect">
            <a:avLst/>
          </a:prstGeom>
          <a:noFill/>
          <a:ln/>
        </p:spPr>
        <p:txBody>
          <a:bodyPr wrap="square" rtlCol="0" anchor="ctr"/>
          <a:lstStyle/>
          <a:p>
            <a:pPr marL="0" indent="0">
              <a:buNone/>
            </a:pPr>
            <a:r>
              <a:rPr lang="en-US" sz="1300" dirty="0">
                <a:solidFill>
                  <a:srgbClr val="3D6BF5"/>
                </a:solidFill>
                <a:latin typeface="Calibri" pitchFamily="34" charset="0"/>
                <a:ea typeface="Calibri" pitchFamily="34" charset="-122"/>
                <a:cs typeface="Calibri" pitchFamily="34" charset="-120"/>
              </a:rPr>
              <a:t>Kaggle — NBA Player Salaries (2022–23 Season) by jamiewelsh2</a:t>
            </a:r>
            <a:endParaRPr lang="en-US" sz="1300" dirty="0"/>
          </a:p>
        </p:txBody>
      </p:sp>
      <p:sp>
        <p:nvSpPr>
          <p:cNvPr id="6" name="Shape 4"/>
          <p:cNvSpPr/>
          <p:nvPr/>
        </p:nvSpPr>
        <p:spPr>
          <a:xfrm>
            <a:off x="457200" y="1371600"/>
            <a:ext cx="1920240" cy="1005840"/>
          </a:xfrm>
          <a:prstGeom prst="rect">
            <a:avLst/>
          </a:prstGeom>
          <a:solidFill>
            <a:srgbClr val="EFF3FF"/>
          </a:solidFill>
          <a:ln w="19050">
            <a:solidFill>
              <a:srgbClr val="3D6BF5"/>
            </a:solidFill>
            <a:prstDash val="solid"/>
          </a:ln>
          <a:effectLst>
            <a:outerShdw blurRad="76200" dist="12700" dir="8100000" algn="bl" rotWithShape="0">
              <a:srgbClr val="BBCCEE">
                <a:alpha val="40000"/>
              </a:srgbClr>
            </a:outerShdw>
          </a:effectLst>
        </p:spPr>
        <p:txBody>
          <a:bodyPr/>
          <a:lstStyle/>
          <a:p>
            <a:endParaRPr lang="en-AU"/>
          </a:p>
        </p:txBody>
      </p:sp>
      <p:sp>
        <p:nvSpPr>
          <p:cNvPr id="7" name="Shape 5"/>
          <p:cNvSpPr/>
          <p:nvPr/>
        </p:nvSpPr>
        <p:spPr>
          <a:xfrm>
            <a:off x="457200" y="1371600"/>
            <a:ext cx="1920240" cy="45720"/>
          </a:xfrm>
          <a:prstGeom prst="rect">
            <a:avLst/>
          </a:prstGeom>
          <a:solidFill>
            <a:srgbClr val="3D6BF5"/>
          </a:solidFill>
          <a:ln w="12700">
            <a:solidFill>
              <a:srgbClr val="3D6BF5"/>
            </a:solidFill>
            <a:prstDash val="solid"/>
          </a:ln>
        </p:spPr>
        <p:txBody>
          <a:bodyPr/>
          <a:lstStyle/>
          <a:p>
            <a:endParaRPr lang="en-AU"/>
          </a:p>
        </p:txBody>
      </p:sp>
      <p:sp>
        <p:nvSpPr>
          <p:cNvPr id="8" name="Text 6"/>
          <p:cNvSpPr/>
          <p:nvPr/>
        </p:nvSpPr>
        <p:spPr>
          <a:xfrm>
            <a:off x="548640" y="1508760"/>
            <a:ext cx="1737360" cy="553212"/>
          </a:xfrm>
          <a:prstGeom prst="rect">
            <a:avLst/>
          </a:prstGeom>
          <a:noFill/>
          <a:ln/>
        </p:spPr>
        <p:txBody>
          <a:bodyPr wrap="square" lIns="0" tIns="0" rIns="0" bIns="0" rtlCol="0" anchor="ctr"/>
          <a:lstStyle/>
          <a:p>
            <a:pPr marL="0" indent="0" algn="ctr">
              <a:buNone/>
            </a:pPr>
            <a:r>
              <a:rPr lang="en-US" sz="2200" b="1" dirty="0">
                <a:solidFill>
                  <a:srgbClr val="3D6BF5"/>
                </a:solidFill>
              </a:rPr>
              <a:t>467</a:t>
            </a:r>
            <a:endParaRPr lang="en-US" sz="2200" dirty="0"/>
          </a:p>
        </p:txBody>
      </p:sp>
      <p:sp>
        <p:nvSpPr>
          <p:cNvPr id="9" name="Text 7"/>
          <p:cNvSpPr/>
          <p:nvPr/>
        </p:nvSpPr>
        <p:spPr>
          <a:xfrm>
            <a:off x="548640" y="1975104"/>
            <a:ext cx="1737360" cy="382219"/>
          </a:xfrm>
          <a:prstGeom prst="rect">
            <a:avLst/>
          </a:prstGeom>
          <a:noFill/>
          <a:ln/>
        </p:spPr>
        <p:txBody>
          <a:bodyPr wrap="square" lIns="0" tIns="0" rIns="0" bIns="0" rtlCol="0" anchor="ctr"/>
          <a:lstStyle/>
          <a:p>
            <a:pPr marL="0" indent="0" algn="ctr">
              <a:buNone/>
            </a:pPr>
            <a:r>
              <a:rPr lang="en-US" sz="900" dirty="0">
                <a:solidFill>
                  <a:srgbClr val="555B6E"/>
                </a:solidFill>
              </a:rPr>
              <a:t>Raw Player Records</a:t>
            </a:r>
            <a:endParaRPr lang="en-US" sz="900" dirty="0"/>
          </a:p>
        </p:txBody>
      </p:sp>
      <p:sp>
        <p:nvSpPr>
          <p:cNvPr id="10" name="Shape 8"/>
          <p:cNvSpPr/>
          <p:nvPr/>
        </p:nvSpPr>
        <p:spPr>
          <a:xfrm>
            <a:off x="2514600" y="1371600"/>
            <a:ext cx="1920240" cy="1005840"/>
          </a:xfrm>
          <a:prstGeom prst="rect">
            <a:avLst/>
          </a:prstGeom>
          <a:solidFill>
            <a:srgbClr val="EFF3FF"/>
          </a:solidFill>
          <a:ln w="19050">
            <a:solidFill>
              <a:srgbClr val="3D6BF5"/>
            </a:solidFill>
            <a:prstDash val="solid"/>
          </a:ln>
          <a:effectLst>
            <a:outerShdw blurRad="76200" dist="12700" dir="8100000" algn="bl" rotWithShape="0">
              <a:srgbClr val="BBCCEE">
                <a:alpha val="40000"/>
              </a:srgbClr>
            </a:outerShdw>
          </a:effectLst>
        </p:spPr>
        <p:txBody>
          <a:bodyPr/>
          <a:lstStyle/>
          <a:p>
            <a:endParaRPr lang="en-AU"/>
          </a:p>
        </p:txBody>
      </p:sp>
      <p:sp>
        <p:nvSpPr>
          <p:cNvPr id="11" name="Shape 9"/>
          <p:cNvSpPr/>
          <p:nvPr/>
        </p:nvSpPr>
        <p:spPr>
          <a:xfrm>
            <a:off x="2514600" y="1371600"/>
            <a:ext cx="1920240" cy="45720"/>
          </a:xfrm>
          <a:prstGeom prst="rect">
            <a:avLst/>
          </a:prstGeom>
          <a:solidFill>
            <a:srgbClr val="3D6BF5"/>
          </a:solidFill>
          <a:ln w="12700">
            <a:solidFill>
              <a:srgbClr val="3D6BF5"/>
            </a:solidFill>
            <a:prstDash val="solid"/>
          </a:ln>
        </p:spPr>
        <p:txBody>
          <a:bodyPr/>
          <a:lstStyle/>
          <a:p>
            <a:endParaRPr lang="en-AU"/>
          </a:p>
        </p:txBody>
      </p:sp>
      <p:sp>
        <p:nvSpPr>
          <p:cNvPr id="12" name="Text 10"/>
          <p:cNvSpPr/>
          <p:nvPr/>
        </p:nvSpPr>
        <p:spPr>
          <a:xfrm>
            <a:off x="2606040" y="1508760"/>
            <a:ext cx="1737360" cy="553212"/>
          </a:xfrm>
          <a:prstGeom prst="rect">
            <a:avLst/>
          </a:prstGeom>
          <a:noFill/>
          <a:ln/>
        </p:spPr>
        <p:txBody>
          <a:bodyPr wrap="square" lIns="0" tIns="0" rIns="0" bIns="0" rtlCol="0" anchor="ctr"/>
          <a:lstStyle/>
          <a:p>
            <a:pPr marL="0" indent="0" algn="ctr">
              <a:buNone/>
            </a:pPr>
            <a:r>
              <a:rPr lang="en-US" sz="2200" b="1" dirty="0">
                <a:solidFill>
                  <a:srgbClr val="3D6BF5"/>
                </a:solidFill>
              </a:rPr>
              <a:t>323</a:t>
            </a:r>
            <a:endParaRPr lang="en-US" sz="2200" dirty="0"/>
          </a:p>
        </p:txBody>
      </p:sp>
      <p:sp>
        <p:nvSpPr>
          <p:cNvPr id="13" name="Text 11"/>
          <p:cNvSpPr/>
          <p:nvPr/>
        </p:nvSpPr>
        <p:spPr>
          <a:xfrm>
            <a:off x="2606040" y="1975104"/>
            <a:ext cx="1737360" cy="382219"/>
          </a:xfrm>
          <a:prstGeom prst="rect">
            <a:avLst/>
          </a:prstGeom>
          <a:noFill/>
          <a:ln/>
        </p:spPr>
        <p:txBody>
          <a:bodyPr wrap="square" lIns="0" tIns="0" rIns="0" bIns="0" rtlCol="0" anchor="ctr"/>
          <a:lstStyle/>
          <a:p>
            <a:pPr marL="0" indent="0" algn="ctr">
              <a:buNone/>
            </a:pPr>
            <a:r>
              <a:rPr lang="en-US" sz="900" dirty="0">
                <a:solidFill>
                  <a:srgbClr val="555B6E"/>
                </a:solidFill>
              </a:rPr>
              <a:t>After Filtering</a:t>
            </a:r>
            <a:endParaRPr lang="en-US" sz="900" dirty="0"/>
          </a:p>
          <a:p>
            <a:pPr marL="0" indent="0" algn="ctr">
              <a:buNone/>
            </a:pPr>
            <a:r>
              <a:rPr lang="en-US" sz="900" dirty="0">
                <a:solidFill>
                  <a:srgbClr val="555B6E"/>
                </a:solidFill>
              </a:rPr>
              <a:t>(≥500 min)</a:t>
            </a:r>
            <a:endParaRPr lang="en-US" sz="900" dirty="0"/>
          </a:p>
        </p:txBody>
      </p:sp>
      <p:sp>
        <p:nvSpPr>
          <p:cNvPr id="14" name="Shape 12"/>
          <p:cNvSpPr/>
          <p:nvPr/>
        </p:nvSpPr>
        <p:spPr>
          <a:xfrm>
            <a:off x="4572000" y="1371600"/>
            <a:ext cx="1920240" cy="1005840"/>
          </a:xfrm>
          <a:prstGeom prst="rect">
            <a:avLst/>
          </a:prstGeom>
          <a:solidFill>
            <a:srgbClr val="EFF3FF"/>
          </a:solidFill>
          <a:ln w="19050">
            <a:solidFill>
              <a:srgbClr val="E6A817"/>
            </a:solidFill>
            <a:prstDash val="solid"/>
          </a:ln>
          <a:effectLst>
            <a:outerShdw blurRad="76200" dist="12700" dir="8100000" algn="bl" rotWithShape="0">
              <a:srgbClr val="BBCCEE">
                <a:alpha val="40000"/>
              </a:srgbClr>
            </a:outerShdw>
          </a:effectLst>
        </p:spPr>
        <p:txBody>
          <a:bodyPr/>
          <a:lstStyle/>
          <a:p>
            <a:endParaRPr lang="en-AU"/>
          </a:p>
        </p:txBody>
      </p:sp>
      <p:sp>
        <p:nvSpPr>
          <p:cNvPr id="15" name="Shape 13"/>
          <p:cNvSpPr/>
          <p:nvPr/>
        </p:nvSpPr>
        <p:spPr>
          <a:xfrm>
            <a:off x="4572000" y="1371600"/>
            <a:ext cx="1920240" cy="45720"/>
          </a:xfrm>
          <a:prstGeom prst="rect">
            <a:avLst/>
          </a:prstGeom>
          <a:solidFill>
            <a:srgbClr val="E6A817"/>
          </a:solidFill>
          <a:ln w="12700">
            <a:solidFill>
              <a:srgbClr val="E6A817"/>
            </a:solidFill>
            <a:prstDash val="solid"/>
          </a:ln>
        </p:spPr>
        <p:txBody>
          <a:bodyPr/>
          <a:lstStyle/>
          <a:p>
            <a:endParaRPr lang="en-AU"/>
          </a:p>
        </p:txBody>
      </p:sp>
      <p:sp>
        <p:nvSpPr>
          <p:cNvPr id="16" name="Text 14"/>
          <p:cNvSpPr/>
          <p:nvPr/>
        </p:nvSpPr>
        <p:spPr>
          <a:xfrm>
            <a:off x="4663440" y="1508760"/>
            <a:ext cx="1737360" cy="553212"/>
          </a:xfrm>
          <a:prstGeom prst="rect">
            <a:avLst/>
          </a:prstGeom>
          <a:noFill/>
          <a:ln/>
        </p:spPr>
        <p:txBody>
          <a:bodyPr wrap="square" lIns="0" tIns="0" rIns="0" bIns="0" rtlCol="0" anchor="ctr"/>
          <a:lstStyle/>
          <a:p>
            <a:pPr marL="0" indent="0" algn="ctr">
              <a:buNone/>
            </a:pPr>
            <a:r>
              <a:rPr lang="en-US" sz="2200" b="1" dirty="0">
                <a:solidFill>
                  <a:srgbClr val="E6A817"/>
                </a:solidFill>
              </a:rPr>
              <a:t>12</a:t>
            </a:r>
            <a:endParaRPr lang="en-US" sz="2200" dirty="0"/>
          </a:p>
        </p:txBody>
      </p:sp>
      <p:sp>
        <p:nvSpPr>
          <p:cNvPr id="17" name="Text 15"/>
          <p:cNvSpPr/>
          <p:nvPr/>
        </p:nvSpPr>
        <p:spPr>
          <a:xfrm>
            <a:off x="4663440" y="1975104"/>
            <a:ext cx="1737360" cy="382219"/>
          </a:xfrm>
          <a:prstGeom prst="rect">
            <a:avLst/>
          </a:prstGeom>
          <a:noFill/>
          <a:ln/>
        </p:spPr>
        <p:txBody>
          <a:bodyPr wrap="square" lIns="0" tIns="0" rIns="0" bIns="0" rtlCol="0" anchor="ctr"/>
          <a:lstStyle/>
          <a:p>
            <a:pPr marL="0" indent="0" algn="ctr">
              <a:buNone/>
            </a:pPr>
            <a:r>
              <a:rPr lang="en-US" sz="900" dirty="0">
                <a:solidFill>
                  <a:srgbClr val="555B6E"/>
                </a:solidFill>
              </a:rPr>
              <a:t>Features Used</a:t>
            </a:r>
            <a:endParaRPr lang="en-US" sz="900" dirty="0"/>
          </a:p>
        </p:txBody>
      </p:sp>
      <p:sp>
        <p:nvSpPr>
          <p:cNvPr id="18" name="Shape 16"/>
          <p:cNvSpPr/>
          <p:nvPr/>
        </p:nvSpPr>
        <p:spPr>
          <a:xfrm>
            <a:off x="6629400" y="1371600"/>
            <a:ext cx="2377440" cy="1005840"/>
          </a:xfrm>
          <a:prstGeom prst="rect">
            <a:avLst/>
          </a:prstGeom>
          <a:solidFill>
            <a:srgbClr val="EFF3FF"/>
          </a:solidFill>
          <a:ln w="19050">
            <a:solidFill>
              <a:srgbClr val="00A87A"/>
            </a:solidFill>
            <a:prstDash val="solid"/>
          </a:ln>
          <a:effectLst>
            <a:outerShdw blurRad="76200" dist="12700" dir="8100000" algn="bl" rotWithShape="0">
              <a:srgbClr val="BBCCEE">
                <a:alpha val="40000"/>
              </a:srgbClr>
            </a:outerShdw>
          </a:effectLst>
        </p:spPr>
        <p:txBody>
          <a:bodyPr/>
          <a:lstStyle/>
          <a:p>
            <a:endParaRPr lang="en-AU"/>
          </a:p>
        </p:txBody>
      </p:sp>
      <p:sp>
        <p:nvSpPr>
          <p:cNvPr id="19" name="Shape 17"/>
          <p:cNvSpPr/>
          <p:nvPr/>
        </p:nvSpPr>
        <p:spPr>
          <a:xfrm>
            <a:off x="6629400" y="1371600"/>
            <a:ext cx="2377440" cy="45720"/>
          </a:xfrm>
          <a:prstGeom prst="rect">
            <a:avLst/>
          </a:prstGeom>
          <a:solidFill>
            <a:srgbClr val="00A87A"/>
          </a:solidFill>
          <a:ln w="12700">
            <a:solidFill>
              <a:srgbClr val="00A87A"/>
            </a:solidFill>
            <a:prstDash val="solid"/>
          </a:ln>
        </p:spPr>
        <p:txBody>
          <a:bodyPr/>
          <a:lstStyle/>
          <a:p>
            <a:endParaRPr lang="en-AU"/>
          </a:p>
        </p:txBody>
      </p:sp>
      <p:sp>
        <p:nvSpPr>
          <p:cNvPr id="20" name="Text 18"/>
          <p:cNvSpPr/>
          <p:nvPr/>
        </p:nvSpPr>
        <p:spPr>
          <a:xfrm>
            <a:off x="6720840" y="1508760"/>
            <a:ext cx="2194560" cy="553212"/>
          </a:xfrm>
          <a:prstGeom prst="rect">
            <a:avLst/>
          </a:prstGeom>
          <a:noFill/>
          <a:ln/>
        </p:spPr>
        <p:txBody>
          <a:bodyPr wrap="square" lIns="0" tIns="0" rIns="0" bIns="0" rtlCol="0" anchor="ctr"/>
          <a:lstStyle/>
          <a:p>
            <a:pPr marL="0" indent="0" algn="ctr">
              <a:buNone/>
            </a:pPr>
            <a:r>
              <a:rPr lang="en-US" sz="2200" b="1" dirty="0">
                <a:solidFill>
                  <a:srgbClr val="00A87A"/>
                </a:solidFill>
              </a:rPr>
              <a:t>$6.0M</a:t>
            </a:r>
            <a:endParaRPr lang="en-US" sz="2200" dirty="0"/>
          </a:p>
        </p:txBody>
      </p:sp>
      <p:sp>
        <p:nvSpPr>
          <p:cNvPr id="21" name="Text 19"/>
          <p:cNvSpPr/>
          <p:nvPr/>
        </p:nvSpPr>
        <p:spPr>
          <a:xfrm>
            <a:off x="6720840" y="1975104"/>
            <a:ext cx="2194560" cy="382219"/>
          </a:xfrm>
          <a:prstGeom prst="rect">
            <a:avLst/>
          </a:prstGeom>
          <a:noFill/>
          <a:ln/>
        </p:spPr>
        <p:txBody>
          <a:bodyPr wrap="square" lIns="0" tIns="0" rIns="0" bIns="0" rtlCol="0" anchor="ctr"/>
          <a:lstStyle/>
          <a:p>
            <a:pPr marL="0" indent="0" algn="ctr">
              <a:buNone/>
            </a:pPr>
            <a:r>
              <a:rPr lang="en-US" sz="900" dirty="0">
                <a:solidFill>
                  <a:srgbClr val="555B6E"/>
                </a:solidFill>
              </a:rPr>
              <a:t>Median Salary</a:t>
            </a:r>
            <a:endParaRPr lang="en-US" sz="900" dirty="0"/>
          </a:p>
        </p:txBody>
      </p:sp>
      <p:sp>
        <p:nvSpPr>
          <p:cNvPr id="22" name="Shape 20"/>
          <p:cNvSpPr/>
          <p:nvPr/>
        </p:nvSpPr>
        <p:spPr>
          <a:xfrm>
            <a:off x="457200" y="2560320"/>
            <a:ext cx="4114800" cy="2331720"/>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23" name="Text 21"/>
          <p:cNvSpPr/>
          <p:nvPr/>
        </p:nvSpPr>
        <p:spPr>
          <a:xfrm>
            <a:off x="640080" y="2606040"/>
            <a:ext cx="3749040" cy="320040"/>
          </a:xfrm>
          <a:prstGeom prst="rect">
            <a:avLst/>
          </a:prstGeom>
          <a:noFill/>
          <a:ln/>
        </p:spPr>
        <p:txBody>
          <a:bodyPr wrap="square" lIns="0" tIns="0" rIns="0" bIns="0" rtlCol="0" anchor="ctr"/>
          <a:lstStyle/>
          <a:p>
            <a:pPr marL="0" indent="0">
              <a:buNone/>
            </a:pPr>
            <a:r>
              <a:rPr lang="en-US" sz="1100" b="1" dirty="0">
                <a:solidFill>
                  <a:srgbClr val="3D6BF5"/>
                </a:solidFill>
              </a:rPr>
              <a:t>KEY FEATURES</a:t>
            </a:r>
            <a:endParaRPr lang="en-US" sz="1100" dirty="0"/>
          </a:p>
        </p:txBody>
      </p:sp>
      <p:sp>
        <p:nvSpPr>
          <p:cNvPr id="24" name="Text 22"/>
          <p:cNvSpPr/>
          <p:nvPr/>
        </p:nvSpPr>
        <p:spPr>
          <a:xfrm>
            <a:off x="640080" y="2971800"/>
            <a:ext cx="3749040" cy="1737360"/>
          </a:xfrm>
          <a:prstGeom prst="rect">
            <a:avLst/>
          </a:prstGeom>
          <a:noFill/>
          <a:ln/>
        </p:spPr>
        <p:txBody>
          <a:bodyPr wrap="square" rtlCol="0" anchor="t"/>
          <a:lstStyle/>
          <a:p>
            <a:pPr marL="0" indent="0">
              <a:spcAft>
                <a:spcPts val="800"/>
              </a:spcAft>
              <a:buNone/>
            </a:pPr>
            <a:r>
              <a:rPr lang="en-US" sz="1200" b="1" dirty="0">
                <a:solidFill>
                  <a:srgbClr val="1A1A2E"/>
                </a:solidFill>
                <a:latin typeface="Calibri" pitchFamily="34" charset="0"/>
                <a:ea typeface="Calibri" pitchFamily="34" charset="-122"/>
                <a:cs typeface="Calibri" pitchFamily="34" charset="-120"/>
              </a:rPr>
              <a:t>Salary</a:t>
            </a:r>
            <a:r>
              <a:rPr lang="en-US" sz="1200" dirty="0">
                <a:solidFill>
                  <a:srgbClr val="1A1A2E"/>
                </a:solidFill>
                <a:latin typeface="Calibri" pitchFamily="34" charset="0"/>
                <a:ea typeface="Calibri" pitchFamily="34" charset="-122"/>
                <a:cs typeface="Calibri" pitchFamily="34" charset="-120"/>
              </a:rPr>
              <a:t> · Points · Assists · Rebounds 
</a:t>
            </a:r>
            <a:endParaRPr lang="en-US" sz="1200" dirty="0"/>
          </a:p>
          <a:p>
            <a:pPr marL="0" indent="0">
              <a:spcAft>
                <a:spcPts val="800"/>
              </a:spcAft>
              <a:buNone/>
            </a:pPr>
            <a:r>
              <a:rPr lang="en-US" sz="1200" b="1" dirty="0">
                <a:solidFill>
                  <a:srgbClr val="1A1A2E"/>
                </a:solidFill>
                <a:latin typeface="Calibri" pitchFamily="34" charset="0"/>
                <a:ea typeface="Calibri" pitchFamily="34" charset="-122"/>
                <a:cs typeface="Calibri" pitchFamily="34" charset="-120"/>
              </a:rPr>
              <a:t>WS</a:t>
            </a:r>
            <a:r>
              <a:rPr lang="en-US" sz="1200" dirty="0">
                <a:solidFill>
                  <a:srgbClr val="1A1A2E"/>
                </a:solidFill>
                <a:latin typeface="Calibri" pitchFamily="34" charset="0"/>
                <a:ea typeface="Calibri" pitchFamily="34" charset="-122"/>
                <a:cs typeface="Calibri" pitchFamily="34" charset="-120"/>
              </a:rPr>
              <a:t> (Win Shares) · </a:t>
            </a:r>
            <a:r>
              <a:rPr lang="en-US" sz="1200" b="1" dirty="0">
                <a:solidFill>
                  <a:srgbClr val="1A1A2E"/>
                </a:solidFill>
                <a:latin typeface="Calibri" pitchFamily="34" charset="0"/>
                <a:ea typeface="Calibri" pitchFamily="34" charset="-122"/>
                <a:cs typeface="Calibri" pitchFamily="34" charset="-120"/>
              </a:rPr>
              <a:t>PER</a:t>
            </a:r>
            <a:r>
              <a:rPr lang="en-US" sz="1200" dirty="0">
                <a:solidFill>
                  <a:srgbClr val="1A1A2E"/>
                </a:solidFill>
                <a:latin typeface="Calibri" pitchFamily="34" charset="0"/>
                <a:ea typeface="Calibri" pitchFamily="34" charset="-122"/>
                <a:cs typeface="Calibri" pitchFamily="34" charset="-120"/>
              </a:rPr>
              <a:t> (Player Efficiency Rating)
</a:t>
            </a:r>
            <a:endParaRPr lang="en-US" sz="1200" dirty="0"/>
          </a:p>
          <a:p>
            <a:pPr marL="0" indent="0">
              <a:spcAft>
                <a:spcPts val="800"/>
              </a:spcAft>
              <a:buNone/>
            </a:pPr>
            <a:r>
              <a:rPr lang="en-US" sz="1200" b="1" dirty="0">
                <a:solidFill>
                  <a:srgbClr val="1A1A2E"/>
                </a:solidFill>
                <a:latin typeface="Calibri" pitchFamily="34" charset="0"/>
                <a:ea typeface="Calibri" pitchFamily="34" charset="-122"/>
                <a:cs typeface="Calibri" pitchFamily="34" charset="-120"/>
              </a:rPr>
              <a:t>Engineered: </a:t>
            </a:r>
            <a:r>
              <a:rPr lang="en-US" sz="1200" dirty="0">
                <a:solidFill>
                  <a:srgbClr val="1A1A2E"/>
                </a:solidFill>
                <a:latin typeface="Calibri" pitchFamily="34" charset="0"/>
                <a:ea typeface="Calibri" pitchFamily="34" charset="-122"/>
                <a:cs typeface="Calibri" pitchFamily="34" charset="-120"/>
              </a:rPr>
              <a:t>salary_per_WS  ·  pts_per_dollar  ·  PER_salary_ratio</a:t>
            </a:r>
            <a:endParaRPr lang="en-US" sz="1200" dirty="0"/>
          </a:p>
        </p:txBody>
      </p:sp>
      <p:sp>
        <p:nvSpPr>
          <p:cNvPr id="25" name="Shape 23"/>
          <p:cNvSpPr/>
          <p:nvPr/>
        </p:nvSpPr>
        <p:spPr>
          <a:xfrm>
            <a:off x="4754880" y="2560320"/>
            <a:ext cx="3931920" cy="2331720"/>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26" name="Text 24"/>
          <p:cNvSpPr/>
          <p:nvPr/>
        </p:nvSpPr>
        <p:spPr>
          <a:xfrm>
            <a:off x="4937760" y="2606040"/>
            <a:ext cx="3566160" cy="320040"/>
          </a:xfrm>
          <a:prstGeom prst="rect">
            <a:avLst/>
          </a:prstGeom>
          <a:noFill/>
          <a:ln/>
        </p:spPr>
        <p:txBody>
          <a:bodyPr wrap="square" lIns="0" tIns="0" rIns="0" bIns="0" rtlCol="0" anchor="ctr"/>
          <a:lstStyle/>
          <a:p>
            <a:pPr marL="0" indent="0">
              <a:buNone/>
            </a:pPr>
            <a:r>
              <a:rPr lang="en-US" sz="1100" b="1" dirty="0">
                <a:solidFill>
                  <a:srgbClr val="3D6BF5"/>
                </a:solidFill>
              </a:rPr>
              <a:t>PREPROCESSING STEPS</a:t>
            </a:r>
            <a:endParaRPr lang="en-US" sz="1100" dirty="0"/>
          </a:p>
        </p:txBody>
      </p:sp>
      <p:sp>
        <p:nvSpPr>
          <p:cNvPr id="27" name="Text 25"/>
          <p:cNvSpPr/>
          <p:nvPr/>
        </p:nvSpPr>
        <p:spPr>
          <a:xfrm>
            <a:off x="4937760" y="2926080"/>
            <a:ext cx="3566160" cy="1783080"/>
          </a:xfrm>
          <a:prstGeom prst="rect">
            <a:avLst/>
          </a:prstGeom>
          <a:noFill/>
          <a:ln/>
        </p:spPr>
        <p:txBody>
          <a:bodyPr wrap="square" rtlCol="0" anchor="t"/>
          <a:lstStyle/>
          <a:p>
            <a:pPr marL="0" indent="0">
              <a:spcAft>
                <a:spcPts val="800"/>
              </a:spcAft>
              <a:buNone/>
            </a:pPr>
            <a:r>
              <a:rPr lang="en-US" sz="1200" dirty="0">
                <a:solidFill>
                  <a:srgbClr val="1A1A2E"/>
                </a:solidFill>
                <a:latin typeface="Calibri" pitchFamily="34" charset="0"/>
                <a:ea typeface="Calibri" pitchFamily="34" charset="-122"/>
                <a:cs typeface="Calibri" pitchFamily="34" charset="-120"/>
              </a:rPr>
              <a:t>- Filtered players with &lt; 500 minutes played</a:t>
            </a:r>
            <a:endParaRPr lang="en-US" sz="1200" dirty="0"/>
          </a:p>
          <a:p>
            <a:pPr marL="0" indent="0">
              <a:spcAft>
                <a:spcPts val="800"/>
              </a:spcAft>
              <a:buNone/>
            </a:pPr>
            <a:r>
              <a:rPr lang="en-US" sz="1200" dirty="0">
                <a:solidFill>
                  <a:srgbClr val="1A1A2E"/>
                </a:solidFill>
                <a:latin typeface="Calibri" pitchFamily="34" charset="0"/>
                <a:ea typeface="Calibri" pitchFamily="34" charset="-122"/>
                <a:cs typeface="Calibri" pitchFamily="34" charset="-120"/>
              </a:rPr>
              <a:t>(insufficient sample size)</a:t>
            </a:r>
            <a:endParaRPr lang="en-US" sz="1200" dirty="0"/>
          </a:p>
          <a:p>
            <a:pPr marL="0" indent="0">
              <a:spcAft>
                <a:spcPts val="800"/>
              </a:spcAft>
              <a:buNone/>
            </a:pPr>
            <a:r>
              <a:rPr lang="en-US" sz="1200" dirty="0">
                <a:solidFill>
                  <a:srgbClr val="1A1A2E"/>
                </a:solidFill>
                <a:latin typeface="Calibri" pitchFamily="34" charset="0"/>
                <a:ea typeface="Calibri" pitchFamily="34" charset="-122"/>
                <a:cs typeface="Calibri" pitchFamily="34" charset="-120"/>
              </a:rPr>
              <a:t>- Log-transformed salary
(right-skewed distribution)
</a:t>
            </a:r>
            <a:endParaRPr lang="en-US" sz="1200" dirty="0"/>
          </a:p>
          <a:p>
            <a:pPr marL="0" indent="0">
              <a:spcAft>
                <a:spcPts val="800"/>
              </a:spcAft>
              <a:buNone/>
            </a:pPr>
            <a:r>
              <a:rPr lang="en-US" sz="1200" dirty="0">
                <a:solidFill>
                  <a:srgbClr val="1A1A2E"/>
                </a:solidFill>
                <a:latin typeface="Calibri" pitchFamily="34" charset="0"/>
                <a:ea typeface="Calibri" pitchFamily="34" charset="-122"/>
                <a:cs typeface="Calibri" pitchFamily="34" charset="-120"/>
              </a:rPr>
              <a:t>- </a:t>
            </a:r>
            <a:r>
              <a:rPr lang="en-US" sz="1200" dirty="0" err="1">
                <a:solidFill>
                  <a:srgbClr val="1A1A2E"/>
                </a:solidFill>
                <a:latin typeface="Calibri" pitchFamily="34" charset="0"/>
                <a:ea typeface="Calibri" pitchFamily="34" charset="-122"/>
                <a:cs typeface="Calibri" pitchFamily="34" charset="-120"/>
              </a:rPr>
              <a:t>Standardised</a:t>
            </a:r>
            <a:r>
              <a:rPr lang="en-US" sz="1200" dirty="0">
                <a:solidFill>
                  <a:srgbClr val="1A1A2E"/>
                </a:solidFill>
                <a:latin typeface="Calibri" pitchFamily="34" charset="0"/>
                <a:ea typeface="Calibri" pitchFamily="34" charset="-122"/>
                <a:cs typeface="Calibri" pitchFamily="34" charset="-120"/>
              </a:rPr>
              <a:t> all features with StandardScaler</a:t>
            </a:r>
            <a:endParaRPr lang="en-US" sz="1200" dirty="0"/>
          </a:p>
        </p:txBody>
      </p:sp>
      <p:sp>
        <p:nvSpPr>
          <p:cNvPr id="28" name="Shape 26"/>
          <p:cNvSpPr/>
          <p:nvPr/>
        </p:nvSpPr>
        <p:spPr>
          <a:xfrm>
            <a:off x="457200" y="4709160"/>
            <a:ext cx="8229600" cy="274320"/>
          </a:xfrm>
          <a:prstGeom prst="rect">
            <a:avLst/>
          </a:prstGeom>
          <a:solidFill>
            <a:srgbClr val="EFF3FF"/>
          </a:solidFill>
          <a:ln w="12700">
            <a:solidFill>
              <a:srgbClr val="555B6E"/>
            </a:solidFill>
            <a:prstDash val="solid"/>
          </a:ln>
          <a:effectLst>
            <a:outerShdw blurRad="50800" dist="12700" dir="8100000" algn="bl" rotWithShape="0">
              <a:srgbClr val="BBCCEE">
                <a:alpha val="35000"/>
              </a:srgbClr>
            </a:outerShdw>
          </a:effectLst>
        </p:spPr>
        <p:txBody>
          <a:bodyPr/>
          <a:lstStyle/>
          <a:p>
            <a:endParaRPr lang="en-AU"/>
          </a:p>
        </p:txBody>
      </p:sp>
      <p:sp>
        <p:nvSpPr>
          <p:cNvPr id="29" name="Text 27"/>
          <p:cNvSpPr/>
          <p:nvPr/>
        </p:nvSpPr>
        <p:spPr>
          <a:xfrm>
            <a:off x="502920" y="4645152"/>
            <a:ext cx="8138160" cy="310896"/>
          </a:xfrm>
          <a:prstGeom prst="rect">
            <a:avLst/>
          </a:prstGeom>
          <a:noFill/>
          <a:ln/>
        </p:spPr>
        <p:txBody>
          <a:bodyPr wrap="square" lIns="0" tIns="0" rIns="0" bIns="0" rtlCol="0" anchor="ctr"/>
          <a:lstStyle/>
          <a:p>
            <a:pPr marL="0" indent="0" algn="ctr">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METHOD</a:t>
            </a:r>
            <a:endParaRPr lang="en-US" sz="900" dirty="0"/>
          </a:p>
        </p:txBody>
      </p:sp>
      <p:sp>
        <p:nvSpPr>
          <p:cNvPr id="4" name="Text 2"/>
          <p:cNvSpPr/>
          <p:nvPr/>
        </p:nvSpPr>
        <p:spPr>
          <a:xfrm>
            <a:off x="457200" y="315883"/>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Method: Isolation Forest</a:t>
            </a:r>
            <a:endParaRPr lang="en-US" sz="2800" dirty="0"/>
          </a:p>
        </p:txBody>
      </p:sp>
      <p:sp>
        <p:nvSpPr>
          <p:cNvPr id="5" name="Text 3"/>
          <p:cNvSpPr/>
          <p:nvPr/>
        </p:nvSpPr>
        <p:spPr>
          <a:xfrm>
            <a:off x="457200" y="791094"/>
            <a:ext cx="8229600" cy="320040"/>
          </a:xfrm>
          <a:prstGeom prst="rect">
            <a:avLst/>
          </a:prstGeom>
          <a:noFill/>
          <a:ln/>
        </p:spPr>
        <p:txBody>
          <a:bodyPr wrap="square" rtlCol="0" anchor="ctr"/>
          <a:lstStyle/>
          <a:p>
            <a:pPr marL="0" indent="0">
              <a:buNone/>
            </a:pPr>
            <a:r>
              <a:rPr lang="en-US" sz="1300" dirty="0">
                <a:solidFill>
                  <a:srgbClr val="3D6BF5"/>
                </a:solidFill>
                <a:latin typeface="Calibri" pitchFamily="34" charset="0"/>
                <a:ea typeface="Calibri" pitchFamily="34" charset="-122"/>
                <a:cs typeface="Calibri" pitchFamily="34" charset="-120"/>
              </a:rPr>
              <a:t>Liu, Ting &amp; Zhou (2008)</a:t>
            </a:r>
            <a:endParaRPr lang="en-US" sz="1300" dirty="0"/>
          </a:p>
        </p:txBody>
      </p:sp>
      <p:sp>
        <p:nvSpPr>
          <p:cNvPr id="6" name="Shape 4"/>
          <p:cNvSpPr/>
          <p:nvPr/>
        </p:nvSpPr>
        <p:spPr>
          <a:xfrm>
            <a:off x="457200" y="1156854"/>
            <a:ext cx="8458200" cy="685800"/>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7" name="Shape 5"/>
          <p:cNvSpPr/>
          <p:nvPr/>
        </p:nvSpPr>
        <p:spPr>
          <a:xfrm>
            <a:off x="457200" y="1156854"/>
            <a:ext cx="8458200" cy="45720"/>
          </a:xfrm>
          <a:prstGeom prst="rect">
            <a:avLst/>
          </a:prstGeom>
          <a:solidFill>
            <a:srgbClr val="3D6BF5"/>
          </a:solidFill>
          <a:ln w="12700">
            <a:solidFill>
              <a:srgbClr val="3D6BF5"/>
            </a:solidFill>
            <a:prstDash val="solid"/>
          </a:ln>
        </p:spPr>
        <p:txBody>
          <a:bodyPr/>
          <a:lstStyle/>
          <a:p>
            <a:endParaRPr lang="en-AU"/>
          </a:p>
        </p:txBody>
      </p:sp>
      <p:sp>
        <p:nvSpPr>
          <p:cNvPr id="8" name="Text 6"/>
          <p:cNvSpPr/>
          <p:nvPr/>
        </p:nvSpPr>
        <p:spPr>
          <a:xfrm>
            <a:off x="685800" y="1202574"/>
            <a:ext cx="7955280" cy="594360"/>
          </a:xfrm>
          <a:prstGeom prst="rect">
            <a:avLst/>
          </a:prstGeom>
          <a:noFill/>
          <a:ln/>
        </p:spPr>
        <p:txBody>
          <a:bodyPr wrap="square" lIns="0" tIns="0" rIns="0" bIns="0" rtlCol="0" anchor="ctr"/>
          <a:lstStyle/>
          <a:p>
            <a:pPr marL="0" indent="0">
              <a:buNone/>
            </a:pPr>
            <a:r>
              <a:rPr lang="en-US" sz="1300" i="1" dirty="0">
                <a:solidFill>
                  <a:srgbClr val="3D6BF5"/>
                </a:solidFill>
              </a:rPr>
              <a:t>Core Idea: Anomalies are easier to isolate than normal points (require fewer random cuts).</a:t>
            </a:r>
            <a:endParaRPr lang="en-US" sz="1300" dirty="0"/>
          </a:p>
        </p:txBody>
      </p:sp>
      <p:sp>
        <p:nvSpPr>
          <p:cNvPr id="9" name="Shape 7"/>
          <p:cNvSpPr/>
          <p:nvPr/>
        </p:nvSpPr>
        <p:spPr>
          <a:xfrm>
            <a:off x="457200" y="2216382"/>
            <a:ext cx="2011680" cy="2571056"/>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10" name="Shape 8"/>
          <p:cNvSpPr/>
          <p:nvPr/>
        </p:nvSpPr>
        <p:spPr>
          <a:xfrm>
            <a:off x="1143000" y="2082339"/>
            <a:ext cx="640080" cy="640080"/>
          </a:xfrm>
          <a:prstGeom prst="ellipse">
            <a:avLst/>
          </a:prstGeom>
          <a:solidFill>
            <a:srgbClr val="3D6BF5"/>
          </a:solidFill>
          <a:ln w="12700">
            <a:solidFill>
              <a:srgbClr val="5E88FF"/>
            </a:solidFill>
            <a:prstDash val="solid"/>
          </a:ln>
        </p:spPr>
        <p:txBody>
          <a:bodyPr/>
          <a:lstStyle/>
          <a:p>
            <a:endParaRPr lang="en-AU"/>
          </a:p>
        </p:txBody>
      </p:sp>
      <p:sp>
        <p:nvSpPr>
          <p:cNvPr id="11" name="Text 9"/>
          <p:cNvSpPr/>
          <p:nvPr/>
        </p:nvSpPr>
        <p:spPr>
          <a:xfrm>
            <a:off x="1143000" y="2082339"/>
            <a:ext cx="640080" cy="640080"/>
          </a:xfrm>
          <a:prstGeom prst="rect">
            <a:avLst/>
          </a:prstGeom>
          <a:noFill/>
          <a:ln/>
        </p:spPr>
        <p:txBody>
          <a:bodyPr wrap="square" lIns="0" tIns="0" rIns="0" bIns="0" rtlCol="0" anchor="ctr"/>
          <a:lstStyle/>
          <a:p>
            <a:pPr marL="0" indent="0" algn="ctr">
              <a:buNone/>
            </a:pPr>
            <a:r>
              <a:rPr lang="en-US" sz="1800" b="1" dirty="0">
                <a:solidFill>
                  <a:srgbClr val="3D6BF5"/>
                </a:solidFill>
              </a:rPr>
              <a:t>1</a:t>
            </a:r>
            <a:endParaRPr lang="en-US" sz="1800" dirty="0"/>
          </a:p>
        </p:txBody>
      </p:sp>
      <p:sp>
        <p:nvSpPr>
          <p:cNvPr id="12" name="Text 10"/>
          <p:cNvSpPr/>
          <p:nvPr/>
        </p:nvSpPr>
        <p:spPr>
          <a:xfrm>
            <a:off x="548640" y="2813859"/>
            <a:ext cx="1828800" cy="365760"/>
          </a:xfrm>
          <a:prstGeom prst="rect">
            <a:avLst/>
          </a:prstGeom>
          <a:noFill/>
          <a:ln/>
        </p:spPr>
        <p:txBody>
          <a:bodyPr wrap="square" lIns="0" tIns="0" rIns="0" bIns="0" rtlCol="0" anchor="ctr"/>
          <a:lstStyle/>
          <a:p>
            <a:pPr marL="0" indent="0" algn="ctr">
              <a:buNone/>
            </a:pPr>
            <a:r>
              <a:rPr lang="en-US" sz="1200" b="1" dirty="0">
                <a:solidFill>
                  <a:srgbClr val="3D6BF5"/>
                </a:solidFill>
              </a:rPr>
              <a:t>Random Trees</a:t>
            </a:r>
            <a:endParaRPr lang="en-US" sz="1200" dirty="0"/>
          </a:p>
        </p:txBody>
      </p:sp>
      <p:sp>
        <p:nvSpPr>
          <p:cNvPr id="13" name="Text 11"/>
          <p:cNvSpPr/>
          <p:nvPr/>
        </p:nvSpPr>
        <p:spPr>
          <a:xfrm>
            <a:off x="548640" y="3440085"/>
            <a:ext cx="1828800" cy="1280160"/>
          </a:xfrm>
          <a:prstGeom prst="rect">
            <a:avLst/>
          </a:prstGeom>
          <a:noFill/>
          <a:ln/>
        </p:spPr>
        <p:txBody>
          <a:bodyPr wrap="square" lIns="0" tIns="0" rIns="0" bIns="0" rtlCol="0" anchor="t"/>
          <a:lstStyle/>
          <a:p>
            <a:pPr marL="0" indent="0" algn="ctr">
              <a:buNone/>
            </a:pPr>
            <a:r>
              <a:rPr lang="en-US" sz="1050" dirty="0">
                <a:solidFill>
                  <a:srgbClr val="555B6E"/>
                </a:solidFill>
              </a:rPr>
              <a:t>Build 200 isolation trees; each tree is trained on a random subset of data</a:t>
            </a:r>
            <a:endParaRPr lang="en-US" sz="1050" dirty="0"/>
          </a:p>
        </p:txBody>
      </p:sp>
      <p:sp>
        <p:nvSpPr>
          <p:cNvPr id="14" name="Shape 12"/>
          <p:cNvSpPr/>
          <p:nvPr/>
        </p:nvSpPr>
        <p:spPr>
          <a:xfrm>
            <a:off x="2606040" y="2205645"/>
            <a:ext cx="2011680" cy="2581793"/>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15" name="Shape 13"/>
          <p:cNvSpPr/>
          <p:nvPr/>
        </p:nvSpPr>
        <p:spPr>
          <a:xfrm>
            <a:off x="3291840" y="2082339"/>
            <a:ext cx="640080" cy="640080"/>
          </a:xfrm>
          <a:prstGeom prst="ellipse">
            <a:avLst/>
          </a:prstGeom>
          <a:solidFill>
            <a:srgbClr val="3D6BF5"/>
          </a:solidFill>
          <a:ln w="12700">
            <a:solidFill>
              <a:srgbClr val="5E88FF"/>
            </a:solidFill>
            <a:prstDash val="solid"/>
          </a:ln>
        </p:spPr>
        <p:txBody>
          <a:bodyPr/>
          <a:lstStyle/>
          <a:p>
            <a:endParaRPr lang="en-AU"/>
          </a:p>
        </p:txBody>
      </p:sp>
      <p:sp>
        <p:nvSpPr>
          <p:cNvPr id="16" name="Text 14"/>
          <p:cNvSpPr/>
          <p:nvPr/>
        </p:nvSpPr>
        <p:spPr>
          <a:xfrm>
            <a:off x="3291840" y="2082339"/>
            <a:ext cx="640080" cy="640080"/>
          </a:xfrm>
          <a:prstGeom prst="rect">
            <a:avLst/>
          </a:prstGeom>
          <a:noFill/>
          <a:ln/>
        </p:spPr>
        <p:txBody>
          <a:bodyPr wrap="square" lIns="0" tIns="0" rIns="0" bIns="0" rtlCol="0" anchor="ctr"/>
          <a:lstStyle/>
          <a:p>
            <a:pPr marL="0" indent="0" algn="ctr">
              <a:buNone/>
            </a:pPr>
            <a:r>
              <a:rPr lang="en-US" sz="1800" b="1" dirty="0">
                <a:solidFill>
                  <a:srgbClr val="3D6BF5"/>
                </a:solidFill>
              </a:rPr>
              <a:t>2</a:t>
            </a:r>
            <a:endParaRPr lang="en-US" sz="1800" dirty="0"/>
          </a:p>
        </p:txBody>
      </p:sp>
      <p:sp>
        <p:nvSpPr>
          <p:cNvPr id="17" name="Text 15"/>
          <p:cNvSpPr/>
          <p:nvPr/>
        </p:nvSpPr>
        <p:spPr>
          <a:xfrm>
            <a:off x="2697480" y="2813859"/>
            <a:ext cx="1828800" cy="365760"/>
          </a:xfrm>
          <a:prstGeom prst="rect">
            <a:avLst/>
          </a:prstGeom>
          <a:noFill/>
          <a:ln/>
        </p:spPr>
        <p:txBody>
          <a:bodyPr wrap="square" lIns="0" tIns="0" rIns="0" bIns="0" rtlCol="0" anchor="ctr"/>
          <a:lstStyle/>
          <a:p>
            <a:pPr marL="0" indent="0" algn="ctr">
              <a:buNone/>
            </a:pPr>
            <a:r>
              <a:rPr lang="en-US" sz="1200" b="1" dirty="0">
                <a:solidFill>
                  <a:srgbClr val="3D6BF5"/>
                </a:solidFill>
              </a:rPr>
              <a:t>Random Splits</a:t>
            </a:r>
            <a:endParaRPr lang="en-US" sz="1200" dirty="0"/>
          </a:p>
        </p:txBody>
      </p:sp>
      <p:sp>
        <p:nvSpPr>
          <p:cNvPr id="18" name="Text 16"/>
          <p:cNvSpPr/>
          <p:nvPr/>
        </p:nvSpPr>
        <p:spPr>
          <a:xfrm>
            <a:off x="2697480" y="3440085"/>
            <a:ext cx="1828800" cy="1280160"/>
          </a:xfrm>
          <a:prstGeom prst="rect">
            <a:avLst/>
          </a:prstGeom>
          <a:noFill/>
          <a:ln/>
        </p:spPr>
        <p:txBody>
          <a:bodyPr wrap="square" lIns="0" tIns="0" rIns="0" bIns="0" rtlCol="0" anchor="t"/>
          <a:lstStyle/>
          <a:p>
            <a:pPr marL="0" indent="0" algn="ctr">
              <a:buNone/>
            </a:pPr>
            <a:r>
              <a:rPr lang="en-US" sz="1050" dirty="0">
                <a:solidFill>
                  <a:srgbClr val="555B6E"/>
                </a:solidFill>
              </a:rPr>
              <a:t>Randomly pick a feature and a split value between min and max; partition data left/right</a:t>
            </a:r>
            <a:endParaRPr lang="en-US" sz="1050" dirty="0"/>
          </a:p>
        </p:txBody>
      </p:sp>
      <p:sp>
        <p:nvSpPr>
          <p:cNvPr id="19" name="Shape 17"/>
          <p:cNvSpPr/>
          <p:nvPr/>
        </p:nvSpPr>
        <p:spPr>
          <a:xfrm>
            <a:off x="4754880" y="2205645"/>
            <a:ext cx="2011680" cy="2581793"/>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20" name="Shape 18"/>
          <p:cNvSpPr/>
          <p:nvPr/>
        </p:nvSpPr>
        <p:spPr>
          <a:xfrm>
            <a:off x="5440680" y="2082339"/>
            <a:ext cx="640080" cy="640080"/>
          </a:xfrm>
          <a:prstGeom prst="ellipse">
            <a:avLst/>
          </a:prstGeom>
          <a:solidFill>
            <a:srgbClr val="3D6BF5"/>
          </a:solidFill>
          <a:ln w="12700">
            <a:solidFill>
              <a:srgbClr val="5E88FF"/>
            </a:solidFill>
            <a:prstDash val="solid"/>
          </a:ln>
        </p:spPr>
        <p:txBody>
          <a:bodyPr/>
          <a:lstStyle/>
          <a:p>
            <a:endParaRPr lang="en-AU"/>
          </a:p>
        </p:txBody>
      </p:sp>
      <p:sp>
        <p:nvSpPr>
          <p:cNvPr id="21" name="Text 19"/>
          <p:cNvSpPr/>
          <p:nvPr/>
        </p:nvSpPr>
        <p:spPr>
          <a:xfrm>
            <a:off x="5440680" y="2082339"/>
            <a:ext cx="640080" cy="640080"/>
          </a:xfrm>
          <a:prstGeom prst="rect">
            <a:avLst/>
          </a:prstGeom>
          <a:noFill/>
          <a:ln/>
        </p:spPr>
        <p:txBody>
          <a:bodyPr wrap="square" lIns="0" tIns="0" rIns="0" bIns="0" rtlCol="0" anchor="ctr"/>
          <a:lstStyle/>
          <a:p>
            <a:pPr marL="0" indent="0" algn="ctr">
              <a:buNone/>
            </a:pPr>
            <a:r>
              <a:rPr lang="en-US" sz="1800" b="1" dirty="0">
                <a:solidFill>
                  <a:srgbClr val="3D6BF5"/>
                </a:solidFill>
              </a:rPr>
              <a:t>3</a:t>
            </a:r>
            <a:endParaRPr lang="en-US" sz="1800" dirty="0"/>
          </a:p>
        </p:txBody>
      </p:sp>
      <p:sp>
        <p:nvSpPr>
          <p:cNvPr id="22" name="Text 20"/>
          <p:cNvSpPr/>
          <p:nvPr/>
        </p:nvSpPr>
        <p:spPr>
          <a:xfrm>
            <a:off x="4846320" y="2813859"/>
            <a:ext cx="1828800" cy="365760"/>
          </a:xfrm>
          <a:prstGeom prst="rect">
            <a:avLst/>
          </a:prstGeom>
          <a:noFill/>
          <a:ln/>
        </p:spPr>
        <p:txBody>
          <a:bodyPr wrap="square" lIns="0" tIns="0" rIns="0" bIns="0" rtlCol="0" anchor="ctr"/>
          <a:lstStyle/>
          <a:p>
            <a:pPr marL="0" indent="0" algn="ctr">
              <a:buNone/>
            </a:pPr>
            <a:r>
              <a:rPr lang="en-US" sz="1200" b="1" dirty="0">
                <a:solidFill>
                  <a:srgbClr val="3D6BF5"/>
                </a:solidFill>
              </a:rPr>
              <a:t>Path Length</a:t>
            </a:r>
            <a:endParaRPr lang="en-US" sz="1200" dirty="0"/>
          </a:p>
        </p:txBody>
      </p:sp>
      <p:sp>
        <p:nvSpPr>
          <p:cNvPr id="23" name="Text 21"/>
          <p:cNvSpPr/>
          <p:nvPr/>
        </p:nvSpPr>
        <p:spPr>
          <a:xfrm>
            <a:off x="4846320" y="3440085"/>
            <a:ext cx="1828800" cy="1280160"/>
          </a:xfrm>
          <a:prstGeom prst="rect">
            <a:avLst/>
          </a:prstGeom>
          <a:noFill/>
          <a:ln/>
        </p:spPr>
        <p:txBody>
          <a:bodyPr wrap="square" lIns="0" tIns="0" rIns="0" bIns="0" rtlCol="0" anchor="t"/>
          <a:lstStyle/>
          <a:p>
            <a:pPr marL="0" indent="0" algn="ctr">
              <a:buNone/>
            </a:pPr>
            <a:r>
              <a:rPr lang="en-US" sz="1050" dirty="0">
                <a:solidFill>
                  <a:srgbClr val="555B6E"/>
                </a:solidFill>
              </a:rPr>
              <a:t>Count splits needed to isolate each point — short path = anomaly; long path = normal</a:t>
            </a:r>
            <a:endParaRPr lang="en-US" sz="1050" dirty="0"/>
          </a:p>
        </p:txBody>
      </p:sp>
      <p:sp>
        <p:nvSpPr>
          <p:cNvPr id="24" name="Shape 22"/>
          <p:cNvSpPr/>
          <p:nvPr/>
        </p:nvSpPr>
        <p:spPr>
          <a:xfrm>
            <a:off x="6903720" y="2205645"/>
            <a:ext cx="2011680" cy="2581793"/>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25" name="Shape 23"/>
          <p:cNvSpPr/>
          <p:nvPr/>
        </p:nvSpPr>
        <p:spPr>
          <a:xfrm>
            <a:off x="7589520" y="2082339"/>
            <a:ext cx="640080" cy="640080"/>
          </a:xfrm>
          <a:prstGeom prst="ellipse">
            <a:avLst/>
          </a:prstGeom>
          <a:solidFill>
            <a:srgbClr val="3D6BF5"/>
          </a:solidFill>
          <a:ln w="12700">
            <a:solidFill>
              <a:srgbClr val="5E88FF"/>
            </a:solidFill>
            <a:prstDash val="solid"/>
          </a:ln>
        </p:spPr>
        <p:txBody>
          <a:bodyPr/>
          <a:lstStyle/>
          <a:p>
            <a:endParaRPr lang="en-AU"/>
          </a:p>
        </p:txBody>
      </p:sp>
      <p:sp>
        <p:nvSpPr>
          <p:cNvPr id="26" name="Text 24"/>
          <p:cNvSpPr/>
          <p:nvPr/>
        </p:nvSpPr>
        <p:spPr>
          <a:xfrm>
            <a:off x="7589520" y="2082339"/>
            <a:ext cx="640080" cy="640080"/>
          </a:xfrm>
          <a:prstGeom prst="rect">
            <a:avLst/>
          </a:prstGeom>
          <a:noFill/>
          <a:ln/>
        </p:spPr>
        <p:txBody>
          <a:bodyPr wrap="square" lIns="0" tIns="0" rIns="0" bIns="0" rtlCol="0" anchor="ctr"/>
          <a:lstStyle/>
          <a:p>
            <a:pPr marL="0" indent="0" algn="ctr">
              <a:buNone/>
            </a:pPr>
            <a:r>
              <a:rPr lang="en-US" sz="1800" b="1" dirty="0">
                <a:solidFill>
                  <a:srgbClr val="3D6BF5"/>
                </a:solidFill>
              </a:rPr>
              <a:t>4</a:t>
            </a:r>
            <a:endParaRPr lang="en-US" sz="1800" dirty="0"/>
          </a:p>
        </p:txBody>
      </p:sp>
      <p:sp>
        <p:nvSpPr>
          <p:cNvPr id="27" name="Text 25"/>
          <p:cNvSpPr/>
          <p:nvPr/>
        </p:nvSpPr>
        <p:spPr>
          <a:xfrm>
            <a:off x="6995160" y="2813859"/>
            <a:ext cx="1828800" cy="365760"/>
          </a:xfrm>
          <a:prstGeom prst="rect">
            <a:avLst/>
          </a:prstGeom>
          <a:noFill/>
          <a:ln/>
        </p:spPr>
        <p:txBody>
          <a:bodyPr wrap="square" lIns="0" tIns="0" rIns="0" bIns="0" rtlCol="0" anchor="ctr"/>
          <a:lstStyle/>
          <a:p>
            <a:pPr marL="0" indent="0" algn="ctr">
              <a:buNone/>
            </a:pPr>
            <a:r>
              <a:rPr lang="en-US" sz="1200" b="1" dirty="0">
                <a:solidFill>
                  <a:srgbClr val="3D6BF5"/>
                </a:solidFill>
              </a:rPr>
              <a:t>Anomaly Score</a:t>
            </a:r>
            <a:endParaRPr lang="en-US" sz="1200" dirty="0"/>
          </a:p>
        </p:txBody>
      </p:sp>
      <p:sp>
        <p:nvSpPr>
          <p:cNvPr id="28" name="Text 26"/>
          <p:cNvSpPr/>
          <p:nvPr/>
        </p:nvSpPr>
        <p:spPr>
          <a:xfrm>
            <a:off x="6995160" y="3440085"/>
            <a:ext cx="1828800" cy="1280160"/>
          </a:xfrm>
          <a:prstGeom prst="rect">
            <a:avLst/>
          </a:prstGeom>
          <a:noFill/>
          <a:ln/>
        </p:spPr>
        <p:txBody>
          <a:bodyPr wrap="square" lIns="0" tIns="0" rIns="0" bIns="0" rtlCol="0" anchor="t"/>
          <a:lstStyle/>
          <a:p>
            <a:pPr marL="0" indent="0" algn="ctr">
              <a:buNone/>
            </a:pPr>
            <a:r>
              <a:rPr lang="en-US" sz="1050" dirty="0">
                <a:solidFill>
                  <a:srgbClr val="555B6E"/>
                </a:solidFill>
              </a:rPr>
              <a:t>Average path length across all trees; players below contamination threshold (10%) are flagged</a:t>
            </a:r>
            <a:endParaRPr lang="en-US" sz="1050" dirty="0"/>
          </a:p>
        </p:txBody>
      </p:sp>
      <p:sp>
        <p:nvSpPr>
          <p:cNvPr id="29" name="Shape 27"/>
          <p:cNvSpPr/>
          <p:nvPr/>
        </p:nvSpPr>
        <p:spPr>
          <a:xfrm>
            <a:off x="457200" y="4849920"/>
            <a:ext cx="8366760" cy="259913"/>
          </a:xfrm>
          <a:prstGeom prst="rect">
            <a:avLst/>
          </a:prstGeom>
          <a:solidFill>
            <a:srgbClr val="EFF3FF"/>
          </a:solidFill>
          <a:ln w="12700">
            <a:solidFill>
              <a:srgbClr val="F0F4FF"/>
            </a:solidFill>
            <a:prstDash val="solid"/>
          </a:ln>
          <a:effectLst>
            <a:outerShdw blurRad="50800" dist="12700" dir="8100000" algn="bl" rotWithShape="0">
              <a:srgbClr val="BBCCEE">
                <a:alpha val="35000"/>
              </a:srgbClr>
            </a:outerShdw>
          </a:effectLst>
        </p:spPr>
        <p:txBody>
          <a:bodyPr/>
          <a:lstStyle/>
          <a:p>
            <a:endParaRPr lang="en-AU"/>
          </a:p>
        </p:txBody>
      </p:sp>
      <p:sp>
        <p:nvSpPr>
          <p:cNvPr id="30" name="Text 28"/>
          <p:cNvSpPr/>
          <p:nvPr/>
        </p:nvSpPr>
        <p:spPr>
          <a:xfrm>
            <a:off x="486297" y="4833158"/>
            <a:ext cx="8275320" cy="310896"/>
          </a:xfrm>
          <a:prstGeom prst="rect">
            <a:avLst/>
          </a:prstGeom>
          <a:noFill/>
          <a:ln/>
        </p:spPr>
        <p:txBody>
          <a:bodyPr wrap="square" lIns="0" tIns="0" rIns="0" bIns="0" rtlCol="0" anchor="ctr"/>
          <a:lstStyle/>
          <a:p>
            <a:pPr marL="0" indent="0" algn="ctr">
              <a:buNone/>
            </a:pPr>
            <a:r>
              <a:rPr lang="en-US" sz="1050" dirty="0">
                <a:solidFill>
                  <a:srgbClr val="3D6BF5"/>
                </a:solidFill>
                <a:latin typeface="Consolas" pitchFamily="34" charset="0"/>
                <a:ea typeface="Consolas" pitchFamily="34" charset="-122"/>
                <a:cs typeface="Consolas" pitchFamily="34" charset="-120"/>
              </a:rPr>
              <a:t>Parameters:  n_estimators = 200   ·   contamination = 0.10   ·   max_samples = auto (256)   ·   random_state = 42</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PROCEDURE</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Analysis Procedure</a:t>
            </a:r>
            <a:endParaRPr lang="en-US" sz="2800" dirty="0"/>
          </a:p>
        </p:txBody>
      </p:sp>
      <p:sp>
        <p:nvSpPr>
          <p:cNvPr id="5" name="Text 3"/>
          <p:cNvSpPr/>
          <p:nvPr/>
        </p:nvSpPr>
        <p:spPr>
          <a:xfrm>
            <a:off x="457200" y="1005840"/>
            <a:ext cx="8229600" cy="320040"/>
          </a:xfrm>
          <a:prstGeom prst="rect">
            <a:avLst/>
          </a:prstGeom>
          <a:noFill/>
          <a:ln/>
        </p:spPr>
        <p:txBody>
          <a:bodyPr wrap="square" rtlCol="0" anchor="ctr"/>
          <a:lstStyle/>
          <a:p>
            <a:pPr marL="0" indent="0">
              <a:buNone/>
            </a:pPr>
            <a:r>
              <a:rPr lang="en-US" sz="1300" dirty="0">
                <a:solidFill>
                  <a:srgbClr val="3D6BF5"/>
                </a:solidFill>
                <a:latin typeface="Calibri" pitchFamily="34" charset="0"/>
                <a:ea typeface="Calibri" pitchFamily="34" charset="-122"/>
                <a:cs typeface="Calibri" pitchFamily="34" charset="-120"/>
              </a:rPr>
              <a:t>Step-by-step pipeline</a:t>
            </a:r>
            <a:endParaRPr lang="en-US" sz="1300" dirty="0"/>
          </a:p>
        </p:txBody>
      </p:sp>
      <p:sp>
        <p:nvSpPr>
          <p:cNvPr id="6" name="Shape 4"/>
          <p:cNvSpPr/>
          <p:nvPr/>
        </p:nvSpPr>
        <p:spPr>
          <a:xfrm>
            <a:off x="457200" y="1463040"/>
            <a:ext cx="475488" cy="475488"/>
          </a:xfrm>
          <a:prstGeom prst="ellipse">
            <a:avLst/>
          </a:prstGeom>
          <a:solidFill>
            <a:srgbClr val="3D6BF5"/>
          </a:solidFill>
          <a:ln w="12700">
            <a:solidFill>
              <a:srgbClr val="3D6BF5"/>
            </a:solidFill>
            <a:prstDash val="solid"/>
          </a:ln>
        </p:spPr>
        <p:txBody>
          <a:bodyPr/>
          <a:lstStyle/>
          <a:p>
            <a:endParaRPr lang="en-AU"/>
          </a:p>
        </p:txBody>
      </p:sp>
      <p:sp>
        <p:nvSpPr>
          <p:cNvPr id="7" name="Text 5"/>
          <p:cNvSpPr/>
          <p:nvPr/>
        </p:nvSpPr>
        <p:spPr>
          <a:xfrm>
            <a:off x="457200" y="146304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1024128" y="1444752"/>
            <a:ext cx="3566160" cy="256032"/>
          </a:xfrm>
          <a:prstGeom prst="rect">
            <a:avLst/>
          </a:prstGeom>
          <a:noFill/>
          <a:ln/>
        </p:spPr>
        <p:txBody>
          <a:bodyPr wrap="square" lIns="0" tIns="0" rIns="0" bIns="0" rtlCol="0" anchor="ctr"/>
          <a:lstStyle/>
          <a:p>
            <a:pPr marL="0" indent="0">
              <a:buNone/>
            </a:pPr>
            <a:r>
              <a:rPr lang="en-US" sz="1200" b="1" dirty="0">
                <a:solidFill>
                  <a:srgbClr val="1A1A2E"/>
                </a:solidFill>
              </a:rPr>
              <a:t>Load &amp; Inspect</a:t>
            </a:r>
            <a:endParaRPr lang="en-US" sz="1200" dirty="0"/>
          </a:p>
        </p:txBody>
      </p:sp>
      <p:sp>
        <p:nvSpPr>
          <p:cNvPr id="9" name="Text 7"/>
          <p:cNvSpPr/>
          <p:nvPr/>
        </p:nvSpPr>
        <p:spPr>
          <a:xfrm>
            <a:off x="1024128" y="1719072"/>
            <a:ext cx="3566160" cy="457200"/>
          </a:xfrm>
          <a:prstGeom prst="rect">
            <a:avLst/>
          </a:prstGeom>
          <a:noFill/>
          <a:ln/>
        </p:spPr>
        <p:txBody>
          <a:bodyPr wrap="square" lIns="0" tIns="0" rIns="0" bIns="0" rtlCol="0" anchor="t"/>
          <a:lstStyle/>
          <a:p>
            <a:pPr marL="0" indent="0">
              <a:buNone/>
            </a:pPr>
            <a:r>
              <a:rPr lang="en-US" sz="1000" dirty="0">
                <a:solidFill>
                  <a:srgbClr val="555B6E"/>
                </a:solidFill>
                <a:latin typeface="Calibri" pitchFamily="34" charset="0"/>
                <a:ea typeface="Calibri" pitchFamily="34" charset="-122"/>
                <a:cs typeface="Calibri" pitchFamily="34" charset="-120"/>
              </a:rPr>
              <a:t>Check shape, data types, missing values, and distributions</a:t>
            </a:r>
            <a:endParaRPr lang="en-US" sz="1000" dirty="0"/>
          </a:p>
        </p:txBody>
      </p:sp>
      <p:sp>
        <p:nvSpPr>
          <p:cNvPr id="10" name="Shape 8"/>
          <p:cNvSpPr/>
          <p:nvPr/>
        </p:nvSpPr>
        <p:spPr>
          <a:xfrm>
            <a:off x="4800600" y="1463040"/>
            <a:ext cx="475488" cy="475488"/>
          </a:xfrm>
          <a:prstGeom prst="ellipse">
            <a:avLst/>
          </a:prstGeom>
          <a:solidFill>
            <a:srgbClr val="3D6BF5"/>
          </a:solidFill>
          <a:ln w="12700">
            <a:solidFill>
              <a:srgbClr val="3D6BF5"/>
            </a:solidFill>
            <a:prstDash val="solid"/>
          </a:ln>
        </p:spPr>
        <p:txBody>
          <a:bodyPr/>
          <a:lstStyle/>
          <a:p>
            <a:endParaRPr lang="en-AU"/>
          </a:p>
        </p:txBody>
      </p:sp>
      <p:sp>
        <p:nvSpPr>
          <p:cNvPr id="11" name="Text 9"/>
          <p:cNvSpPr/>
          <p:nvPr/>
        </p:nvSpPr>
        <p:spPr>
          <a:xfrm>
            <a:off x="4800600" y="146304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2" name="Text 10"/>
          <p:cNvSpPr/>
          <p:nvPr/>
        </p:nvSpPr>
        <p:spPr>
          <a:xfrm>
            <a:off x="5367528" y="1444752"/>
            <a:ext cx="3566160" cy="256032"/>
          </a:xfrm>
          <a:prstGeom prst="rect">
            <a:avLst/>
          </a:prstGeom>
          <a:noFill/>
          <a:ln/>
        </p:spPr>
        <p:txBody>
          <a:bodyPr wrap="square" lIns="0" tIns="0" rIns="0" bIns="0" rtlCol="0" anchor="ctr"/>
          <a:lstStyle/>
          <a:p>
            <a:pPr marL="0" indent="0">
              <a:buNone/>
            </a:pPr>
            <a:r>
              <a:rPr lang="en-US" sz="1200" b="1" dirty="0">
                <a:solidFill>
                  <a:srgbClr val="1A1A2E"/>
                </a:solidFill>
              </a:rPr>
              <a:t>Filter &amp; Merge</a:t>
            </a:r>
            <a:endParaRPr lang="en-US" sz="1200" dirty="0"/>
          </a:p>
        </p:txBody>
      </p:sp>
      <p:sp>
        <p:nvSpPr>
          <p:cNvPr id="13" name="Text 11"/>
          <p:cNvSpPr/>
          <p:nvPr/>
        </p:nvSpPr>
        <p:spPr>
          <a:xfrm>
            <a:off x="5367528" y="1719072"/>
            <a:ext cx="3566160" cy="457200"/>
          </a:xfrm>
          <a:prstGeom prst="rect">
            <a:avLst/>
          </a:prstGeom>
          <a:noFill/>
          <a:ln/>
        </p:spPr>
        <p:txBody>
          <a:bodyPr wrap="square" lIns="0" tIns="0" rIns="0" bIns="0" rtlCol="0" anchor="t"/>
          <a:lstStyle/>
          <a:p>
            <a:pPr marL="0" indent="0">
              <a:buNone/>
            </a:pPr>
            <a:r>
              <a:rPr lang="en-US" sz="1000" dirty="0">
                <a:solidFill>
                  <a:srgbClr val="555B6E"/>
                </a:solidFill>
                <a:latin typeface="Calibri" pitchFamily="34" charset="0"/>
                <a:ea typeface="Calibri" pitchFamily="34" charset="-122"/>
                <a:cs typeface="Calibri" pitchFamily="34" charset="-120"/>
              </a:rPr>
              <a:t>Remove players with &lt; 500 minutes played; handle traded player duplicates</a:t>
            </a:r>
            <a:endParaRPr lang="en-US" sz="1000" dirty="0"/>
          </a:p>
        </p:txBody>
      </p:sp>
      <p:sp>
        <p:nvSpPr>
          <p:cNvPr id="14" name="Shape 12"/>
          <p:cNvSpPr/>
          <p:nvPr/>
        </p:nvSpPr>
        <p:spPr>
          <a:xfrm>
            <a:off x="457200" y="2221992"/>
            <a:ext cx="8229600" cy="0"/>
          </a:xfrm>
          <a:prstGeom prst="line">
            <a:avLst/>
          </a:prstGeom>
          <a:noFill/>
          <a:ln w="6350">
            <a:solidFill>
              <a:srgbClr val="D0DAFE"/>
            </a:solidFill>
            <a:prstDash val="solid"/>
          </a:ln>
        </p:spPr>
        <p:txBody>
          <a:bodyPr/>
          <a:lstStyle/>
          <a:p>
            <a:endParaRPr lang="en-AU"/>
          </a:p>
        </p:txBody>
      </p:sp>
      <p:sp>
        <p:nvSpPr>
          <p:cNvPr id="15" name="Shape 13"/>
          <p:cNvSpPr/>
          <p:nvPr/>
        </p:nvSpPr>
        <p:spPr>
          <a:xfrm>
            <a:off x="457200" y="2359152"/>
            <a:ext cx="475488" cy="475488"/>
          </a:xfrm>
          <a:prstGeom prst="ellipse">
            <a:avLst/>
          </a:prstGeom>
          <a:solidFill>
            <a:srgbClr val="3D6BF5"/>
          </a:solidFill>
          <a:ln w="12700">
            <a:solidFill>
              <a:srgbClr val="3D6BF5"/>
            </a:solidFill>
            <a:prstDash val="solid"/>
          </a:ln>
        </p:spPr>
        <p:txBody>
          <a:bodyPr/>
          <a:lstStyle/>
          <a:p>
            <a:endParaRPr lang="en-AU"/>
          </a:p>
        </p:txBody>
      </p:sp>
      <p:sp>
        <p:nvSpPr>
          <p:cNvPr id="16" name="Text 14"/>
          <p:cNvSpPr/>
          <p:nvPr/>
        </p:nvSpPr>
        <p:spPr>
          <a:xfrm>
            <a:off x="457200" y="2359152"/>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7" name="Text 15"/>
          <p:cNvSpPr/>
          <p:nvPr/>
        </p:nvSpPr>
        <p:spPr>
          <a:xfrm>
            <a:off x="1024128" y="2340864"/>
            <a:ext cx="3566160" cy="256032"/>
          </a:xfrm>
          <a:prstGeom prst="rect">
            <a:avLst/>
          </a:prstGeom>
          <a:noFill/>
          <a:ln/>
        </p:spPr>
        <p:txBody>
          <a:bodyPr wrap="square" lIns="0" tIns="0" rIns="0" bIns="0" rtlCol="0" anchor="ctr"/>
          <a:lstStyle/>
          <a:p>
            <a:pPr marL="0" indent="0">
              <a:buNone/>
            </a:pPr>
            <a:r>
              <a:rPr lang="en-US" sz="1200" b="1" dirty="0">
                <a:solidFill>
                  <a:srgbClr val="1A1A2E"/>
                </a:solidFill>
              </a:rPr>
              <a:t>Feature Engineering</a:t>
            </a:r>
            <a:endParaRPr lang="en-US" sz="1200" dirty="0"/>
          </a:p>
        </p:txBody>
      </p:sp>
      <p:sp>
        <p:nvSpPr>
          <p:cNvPr id="18" name="Text 16"/>
          <p:cNvSpPr/>
          <p:nvPr/>
        </p:nvSpPr>
        <p:spPr>
          <a:xfrm>
            <a:off x="1024128" y="2615184"/>
            <a:ext cx="3566160" cy="457200"/>
          </a:xfrm>
          <a:prstGeom prst="rect">
            <a:avLst/>
          </a:prstGeom>
          <a:noFill/>
          <a:ln/>
        </p:spPr>
        <p:txBody>
          <a:bodyPr wrap="square" lIns="0" tIns="0" rIns="0" bIns="0" rtlCol="0" anchor="t"/>
          <a:lstStyle/>
          <a:p>
            <a:pPr marL="0" indent="0">
              <a:buNone/>
            </a:pPr>
            <a:r>
              <a:rPr lang="en-US" sz="1000" dirty="0">
                <a:solidFill>
                  <a:srgbClr val="555B6E"/>
                </a:solidFill>
                <a:latin typeface="Calibri" pitchFamily="34" charset="0"/>
                <a:ea typeface="Calibri" pitchFamily="34" charset="-122"/>
                <a:cs typeface="Calibri" pitchFamily="34" charset="-120"/>
              </a:rPr>
              <a:t>Create salary_per_WS, pts_per_dollar, and PER_salary_ratio</a:t>
            </a:r>
            <a:endParaRPr lang="en-US" sz="1000" dirty="0"/>
          </a:p>
        </p:txBody>
      </p:sp>
      <p:sp>
        <p:nvSpPr>
          <p:cNvPr id="19" name="Shape 17"/>
          <p:cNvSpPr/>
          <p:nvPr/>
        </p:nvSpPr>
        <p:spPr>
          <a:xfrm>
            <a:off x="4800600" y="2359152"/>
            <a:ext cx="475488" cy="475488"/>
          </a:xfrm>
          <a:prstGeom prst="ellipse">
            <a:avLst/>
          </a:prstGeom>
          <a:solidFill>
            <a:srgbClr val="3D6BF5"/>
          </a:solidFill>
          <a:ln w="12700">
            <a:solidFill>
              <a:srgbClr val="3D6BF5"/>
            </a:solidFill>
            <a:prstDash val="solid"/>
          </a:ln>
        </p:spPr>
        <p:txBody>
          <a:bodyPr/>
          <a:lstStyle/>
          <a:p>
            <a:endParaRPr lang="en-AU"/>
          </a:p>
        </p:txBody>
      </p:sp>
      <p:sp>
        <p:nvSpPr>
          <p:cNvPr id="20" name="Text 18"/>
          <p:cNvSpPr/>
          <p:nvPr/>
        </p:nvSpPr>
        <p:spPr>
          <a:xfrm>
            <a:off x="4800600" y="2359152"/>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1" name="Text 19"/>
          <p:cNvSpPr/>
          <p:nvPr/>
        </p:nvSpPr>
        <p:spPr>
          <a:xfrm>
            <a:off x="5367528" y="2340864"/>
            <a:ext cx="3566160" cy="256032"/>
          </a:xfrm>
          <a:prstGeom prst="rect">
            <a:avLst/>
          </a:prstGeom>
          <a:noFill/>
          <a:ln/>
        </p:spPr>
        <p:txBody>
          <a:bodyPr wrap="square" lIns="0" tIns="0" rIns="0" bIns="0" rtlCol="0" anchor="ctr"/>
          <a:lstStyle/>
          <a:p>
            <a:pPr marL="0" indent="0">
              <a:buNone/>
            </a:pPr>
            <a:r>
              <a:rPr lang="en-US" sz="1200" b="1" dirty="0">
                <a:solidFill>
                  <a:srgbClr val="1A1A2E"/>
                </a:solidFill>
              </a:rPr>
              <a:t>Transform &amp; Scale</a:t>
            </a:r>
            <a:endParaRPr lang="en-US" sz="1200" dirty="0"/>
          </a:p>
        </p:txBody>
      </p:sp>
      <p:sp>
        <p:nvSpPr>
          <p:cNvPr id="22" name="Text 20"/>
          <p:cNvSpPr/>
          <p:nvPr/>
        </p:nvSpPr>
        <p:spPr>
          <a:xfrm>
            <a:off x="5367528" y="2615184"/>
            <a:ext cx="3566160" cy="457200"/>
          </a:xfrm>
          <a:prstGeom prst="rect">
            <a:avLst/>
          </a:prstGeom>
          <a:noFill/>
          <a:ln/>
        </p:spPr>
        <p:txBody>
          <a:bodyPr wrap="square" lIns="0" tIns="0" rIns="0" bIns="0" rtlCol="0" anchor="t"/>
          <a:lstStyle/>
          <a:p>
            <a:pPr marL="0" indent="0">
              <a:buNone/>
            </a:pPr>
            <a:r>
              <a:rPr lang="en-US" sz="1000" dirty="0">
                <a:solidFill>
                  <a:srgbClr val="555B6E"/>
                </a:solidFill>
                <a:latin typeface="Calibri" pitchFamily="34" charset="0"/>
                <a:ea typeface="Calibri" pitchFamily="34" charset="-122"/>
                <a:cs typeface="Calibri" pitchFamily="34" charset="-120"/>
              </a:rPr>
              <a:t>Log-transform salary (right-skewed); standardise all features with StandardScaler</a:t>
            </a:r>
            <a:endParaRPr lang="en-US" sz="1000" dirty="0"/>
          </a:p>
        </p:txBody>
      </p:sp>
      <p:sp>
        <p:nvSpPr>
          <p:cNvPr id="23" name="Shape 21"/>
          <p:cNvSpPr/>
          <p:nvPr/>
        </p:nvSpPr>
        <p:spPr>
          <a:xfrm>
            <a:off x="457200" y="3118104"/>
            <a:ext cx="8229600" cy="0"/>
          </a:xfrm>
          <a:prstGeom prst="line">
            <a:avLst/>
          </a:prstGeom>
          <a:noFill/>
          <a:ln w="6350">
            <a:solidFill>
              <a:srgbClr val="D0DAFE"/>
            </a:solidFill>
            <a:prstDash val="solid"/>
          </a:ln>
        </p:spPr>
        <p:txBody>
          <a:bodyPr/>
          <a:lstStyle/>
          <a:p>
            <a:endParaRPr lang="en-AU"/>
          </a:p>
        </p:txBody>
      </p:sp>
      <p:sp>
        <p:nvSpPr>
          <p:cNvPr id="24" name="Shape 22"/>
          <p:cNvSpPr/>
          <p:nvPr/>
        </p:nvSpPr>
        <p:spPr>
          <a:xfrm>
            <a:off x="457200" y="3255264"/>
            <a:ext cx="475488" cy="475488"/>
          </a:xfrm>
          <a:prstGeom prst="ellipse">
            <a:avLst/>
          </a:prstGeom>
          <a:solidFill>
            <a:srgbClr val="3D6BF5"/>
          </a:solidFill>
          <a:ln w="12700">
            <a:solidFill>
              <a:srgbClr val="3D6BF5"/>
            </a:solidFill>
            <a:prstDash val="solid"/>
          </a:ln>
        </p:spPr>
        <p:txBody>
          <a:bodyPr/>
          <a:lstStyle/>
          <a:p>
            <a:endParaRPr lang="en-AU"/>
          </a:p>
        </p:txBody>
      </p:sp>
      <p:sp>
        <p:nvSpPr>
          <p:cNvPr id="25" name="Text 23"/>
          <p:cNvSpPr/>
          <p:nvPr/>
        </p:nvSpPr>
        <p:spPr>
          <a:xfrm>
            <a:off x="457200" y="3255264"/>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6" name="Text 24"/>
          <p:cNvSpPr/>
          <p:nvPr/>
        </p:nvSpPr>
        <p:spPr>
          <a:xfrm>
            <a:off x="1024128" y="3236976"/>
            <a:ext cx="3566160" cy="256032"/>
          </a:xfrm>
          <a:prstGeom prst="rect">
            <a:avLst/>
          </a:prstGeom>
          <a:noFill/>
          <a:ln/>
        </p:spPr>
        <p:txBody>
          <a:bodyPr wrap="square" lIns="0" tIns="0" rIns="0" bIns="0" rtlCol="0" anchor="ctr"/>
          <a:lstStyle/>
          <a:p>
            <a:pPr marL="0" indent="0">
              <a:buNone/>
            </a:pPr>
            <a:r>
              <a:rPr lang="en-US" sz="1200" b="1" dirty="0">
                <a:solidFill>
                  <a:srgbClr val="1A1A2E"/>
                </a:solidFill>
              </a:rPr>
              <a:t>Train Isolation Forest</a:t>
            </a:r>
            <a:endParaRPr lang="en-US" sz="1200" dirty="0"/>
          </a:p>
        </p:txBody>
      </p:sp>
      <p:sp>
        <p:nvSpPr>
          <p:cNvPr id="27" name="Text 25"/>
          <p:cNvSpPr/>
          <p:nvPr/>
        </p:nvSpPr>
        <p:spPr>
          <a:xfrm>
            <a:off x="1024128" y="3511296"/>
            <a:ext cx="3566160" cy="457200"/>
          </a:xfrm>
          <a:prstGeom prst="rect">
            <a:avLst/>
          </a:prstGeom>
          <a:noFill/>
          <a:ln/>
        </p:spPr>
        <p:txBody>
          <a:bodyPr wrap="square" lIns="0" tIns="0" rIns="0" bIns="0" rtlCol="0" anchor="t"/>
          <a:lstStyle/>
          <a:p>
            <a:pPr marL="0" indent="0">
              <a:buNone/>
            </a:pPr>
            <a:r>
              <a:rPr lang="en-US" sz="1000" dirty="0">
                <a:solidFill>
                  <a:srgbClr val="555B6E"/>
                </a:solidFill>
                <a:latin typeface="Calibri" pitchFamily="34" charset="0"/>
                <a:ea typeface="Calibri" pitchFamily="34" charset="-122"/>
                <a:cs typeface="Calibri" pitchFamily="34" charset="-120"/>
              </a:rPr>
              <a:t>n_estimators=200, contamination=0.10, random_state=42; extract anomaly scores and labels</a:t>
            </a:r>
            <a:endParaRPr lang="en-US" sz="1000" dirty="0"/>
          </a:p>
        </p:txBody>
      </p:sp>
      <p:sp>
        <p:nvSpPr>
          <p:cNvPr id="28" name="Shape 26"/>
          <p:cNvSpPr/>
          <p:nvPr/>
        </p:nvSpPr>
        <p:spPr>
          <a:xfrm>
            <a:off x="4800600" y="3255264"/>
            <a:ext cx="475488" cy="475488"/>
          </a:xfrm>
          <a:prstGeom prst="ellipse">
            <a:avLst/>
          </a:prstGeom>
          <a:solidFill>
            <a:srgbClr val="3D6BF5"/>
          </a:solidFill>
          <a:ln w="12700">
            <a:solidFill>
              <a:srgbClr val="3D6BF5"/>
            </a:solidFill>
            <a:prstDash val="solid"/>
          </a:ln>
        </p:spPr>
        <p:txBody>
          <a:bodyPr/>
          <a:lstStyle/>
          <a:p>
            <a:endParaRPr lang="en-AU"/>
          </a:p>
        </p:txBody>
      </p:sp>
      <p:sp>
        <p:nvSpPr>
          <p:cNvPr id="29" name="Text 27"/>
          <p:cNvSpPr/>
          <p:nvPr/>
        </p:nvSpPr>
        <p:spPr>
          <a:xfrm>
            <a:off x="4800600" y="3255264"/>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0" name="Text 28"/>
          <p:cNvSpPr/>
          <p:nvPr/>
        </p:nvSpPr>
        <p:spPr>
          <a:xfrm>
            <a:off x="5367528" y="3236976"/>
            <a:ext cx="3566160" cy="256032"/>
          </a:xfrm>
          <a:prstGeom prst="rect">
            <a:avLst/>
          </a:prstGeom>
          <a:noFill/>
          <a:ln/>
        </p:spPr>
        <p:txBody>
          <a:bodyPr wrap="square" lIns="0" tIns="0" rIns="0" bIns="0" rtlCol="0" anchor="ctr"/>
          <a:lstStyle/>
          <a:p>
            <a:pPr marL="0" indent="0">
              <a:buNone/>
            </a:pPr>
            <a:r>
              <a:rPr lang="en-US" sz="1200" b="1" dirty="0">
                <a:solidFill>
                  <a:srgbClr val="1A1A2E"/>
                </a:solidFill>
              </a:rPr>
              <a:t>Sensitivity Test</a:t>
            </a:r>
            <a:endParaRPr lang="en-US" sz="1200" dirty="0"/>
          </a:p>
        </p:txBody>
      </p:sp>
      <p:sp>
        <p:nvSpPr>
          <p:cNvPr id="31" name="Text 29"/>
          <p:cNvSpPr/>
          <p:nvPr/>
        </p:nvSpPr>
        <p:spPr>
          <a:xfrm>
            <a:off x="5367528" y="3511296"/>
            <a:ext cx="3566160" cy="457200"/>
          </a:xfrm>
          <a:prstGeom prst="rect">
            <a:avLst/>
          </a:prstGeom>
          <a:noFill/>
          <a:ln/>
        </p:spPr>
        <p:txBody>
          <a:bodyPr wrap="square" lIns="0" tIns="0" rIns="0" bIns="0" rtlCol="0" anchor="t"/>
          <a:lstStyle/>
          <a:p>
            <a:pPr marL="0" indent="0">
              <a:buNone/>
            </a:pPr>
            <a:r>
              <a:rPr lang="en-US" sz="1000" dirty="0">
                <a:solidFill>
                  <a:srgbClr val="555B6E"/>
                </a:solidFill>
                <a:latin typeface="Calibri" pitchFamily="34" charset="0"/>
                <a:ea typeface="Calibri" pitchFamily="34" charset="-122"/>
                <a:cs typeface="Calibri" pitchFamily="34" charset="-120"/>
              </a:rPr>
              <a:t>Repeat with contamination = 0.05, 0.15, 0.20 to validate robustness of results</a:t>
            </a:r>
            <a:endParaRPr lang="en-US" sz="1000" dirty="0"/>
          </a:p>
        </p:txBody>
      </p:sp>
      <p:sp>
        <p:nvSpPr>
          <p:cNvPr id="32" name="Shape 30"/>
          <p:cNvSpPr/>
          <p:nvPr/>
        </p:nvSpPr>
        <p:spPr>
          <a:xfrm>
            <a:off x="457200" y="4014216"/>
            <a:ext cx="8229600" cy="0"/>
          </a:xfrm>
          <a:prstGeom prst="line">
            <a:avLst/>
          </a:prstGeom>
          <a:noFill/>
          <a:ln w="6350">
            <a:solidFill>
              <a:srgbClr val="D0DAFE"/>
            </a:solidFill>
            <a:prstDash val="solid"/>
          </a:ln>
        </p:spPr>
        <p:txBody>
          <a:bodyPr/>
          <a:lstStyle/>
          <a:p>
            <a:endParaRPr lang="en-AU"/>
          </a:p>
        </p:txBody>
      </p:sp>
      <p:sp>
        <p:nvSpPr>
          <p:cNvPr id="33" name="Shape 31"/>
          <p:cNvSpPr/>
          <p:nvPr/>
        </p:nvSpPr>
        <p:spPr>
          <a:xfrm>
            <a:off x="457200" y="4151376"/>
            <a:ext cx="475488" cy="475488"/>
          </a:xfrm>
          <a:prstGeom prst="ellipse">
            <a:avLst/>
          </a:prstGeom>
          <a:solidFill>
            <a:srgbClr val="3D6BF5"/>
          </a:solidFill>
          <a:ln w="12700">
            <a:solidFill>
              <a:srgbClr val="3D6BF5"/>
            </a:solidFill>
            <a:prstDash val="solid"/>
          </a:ln>
        </p:spPr>
        <p:txBody>
          <a:bodyPr/>
          <a:lstStyle/>
          <a:p>
            <a:endParaRPr lang="en-AU"/>
          </a:p>
        </p:txBody>
      </p:sp>
      <p:sp>
        <p:nvSpPr>
          <p:cNvPr id="34" name="Text 32"/>
          <p:cNvSpPr/>
          <p:nvPr/>
        </p:nvSpPr>
        <p:spPr>
          <a:xfrm>
            <a:off x="457200" y="41513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7</a:t>
            </a:r>
            <a:endParaRPr lang="en-US" sz="1300" dirty="0"/>
          </a:p>
        </p:txBody>
      </p:sp>
      <p:sp>
        <p:nvSpPr>
          <p:cNvPr id="35" name="Text 33"/>
          <p:cNvSpPr/>
          <p:nvPr/>
        </p:nvSpPr>
        <p:spPr>
          <a:xfrm>
            <a:off x="1024128" y="4133088"/>
            <a:ext cx="3566160" cy="256032"/>
          </a:xfrm>
          <a:prstGeom prst="rect">
            <a:avLst/>
          </a:prstGeom>
          <a:noFill/>
          <a:ln/>
        </p:spPr>
        <p:txBody>
          <a:bodyPr wrap="square" lIns="0" tIns="0" rIns="0" bIns="0" rtlCol="0" anchor="ctr"/>
          <a:lstStyle/>
          <a:p>
            <a:pPr marL="0" indent="0">
              <a:buNone/>
            </a:pPr>
            <a:r>
              <a:rPr lang="en-US" sz="1200" b="1" dirty="0">
                <a:solidFill>
                  <a:srgbClr val="1A1A2E"/>
                </a:solidFill>
              </a:rPr>
              <a:t>LOF Comparison</a:t>
            </a:r>
            <a:endParaRPr lang="en-US" sz="1200" dirty="0"/>
          </a:p>
        </p:txBody>
      </p:sp>
      <p:sp>
        <p:nvSpPr>
          <p:cNvPr id="36" name="Text 34"/>
          <p:cNvSpPr/>
          <p:nvPr/>
        </p:nvSpPr>
        <p:spPr>
          <a:xfrm>
            <a:off x="1024128" y="4407408"/>
            <a:ext cx="3566160" cy="457200"/>
          </a:xfrm>
          <a:prstGeom prst="rect">
            <a:avLst/>
          </a:prstGeom>
          <a:noFill/>
          <a:ln/>
        </p:spPr>
        <p:txBody>
          <a:bodyPr wrap="square" lIns="0" tIns="0" rIns="0" bIns="0" rtlCol="0" anchor="t"/>
          <a:lstStyle/>
          <a:p>
            <a:pPr marL="0" indent="0">
              <a:buNone/>
            </a:pPr>
            <a:r>
              <a:rPr lang="en-US" sz="1000" dirty="0">
                <a:solidFill>
                  <a:srgbClr val="555B6E"/>
                </a:solidFill>
                <a:latin typeface="Calibri" pitchFamily="34" charset="0"/>
                <a:ea typeface="Calibri" pitchFamily="34" charset="-122"/>
                <a:cs typeface="Calibri" pitchFamily="34" charset="-120"/>
              </a:rPr>
              <a:t>Train Local Outlier Factor (n_neighbors=20); compare flagged players with Isolation Forest</a:t>
            </a:r>
            <a:endParaRPr lang="en-US" sz="1000" dirty="0"/>
          </a:p>
        </p:txBody>
      </p:sp>
      <p:sp>
        <p:nvSpPr>
          <p:cNvPr id="37" name="Shape 35"/>
          <p:cNvSpPr/>
          <p:nvPr/>
        </p:nvSpPr>
        <p:spPr>
          <a:xfrm>
            <a:off x="4800600" y="4151376"/>
            <a:ext cx="475488" cy="475488"/>
          </a:xfrm>
          <a:prstGeom prst="ellipse">
            <a:avLst/>
          </a:prstGeom>
          <a:solidFill>
            <a:srgbClr val="3D6BF5"/>
          </a:solidFill>
          <a:ln w="12700">
            <a:solidFill>
              <a:srgbClr val="3D6BF5"/>
            </a:solidFill>
            <a:prstDash val="solid"/>
          </a:ln>
        </p:spPr>
        <p:txBody>
          <a:bodyPr/>
          <a:lstStyle/>
          <a:p>
            <a:endParaRPr lang="en-AU"/>
          </a:p>
        </p:txBody>
      </p:sp>
      <p:sp>
        <p:nvSpPr>
          <p:cNvPr id="38" name="Text 36"/>
          <p:cNvSpPr/>
          <p:nvPr/>
        </p:nvSpPr>
        <p:spPr>
          <a:xfrm>
            <a:off x="4800600" y="4151376"/>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rPr>
              <a:t>8</a:t>
            </a:r>
            <a:endParaRPr lang="en-US" sz="1300" dirty="0"/>
          </a:p>
        </p:txBody>
      </p:sp>
      <p:sp>
        <p:nvSpPr>
          <p:cNvPr id="39" name="Text 37"/>
          <p:cNvSpPr/>
          <p:nvPr/>
        </p:nvSpPr>
        <p:spPr>
          <a:xfrm>
            <a:off x="5367528" y="4133088"/>
            <a:ext cx="3566160" cy="256032"/>
          </a:xfrm>
          <a:prstGeom prst="rect">
            <a:avLst/>
          </a:prstGeom>
          <a:noFill/>
          <a:ln/>
        </p:spPr>
        <p:txBody>
          <a:bodyPr wrap="square" lIns="0" tIns="0" rIns="0" bIns="0" rtlCol="0" anchor="ctr"/>
          <a:lstStyle/>
          <a:p>
            <a:pPr marL="0" indent="0">
              <a:buNone/>
            </a:pPr>
            <a:r>
              <a:rPr lang="en-US" sz="1200" b="1" dirty="0">
                <a:solidFill>
                  <a:srgbClr val="1A1A2E"/>
                </a:solidFill>
              </a:rPr>
              <a:t>Visualise Results</a:t>
            </a:r>
            <a:endParaRPr lang="en-US" sz="1200" dirty="0"/>
          </a:p>
        </p:txBody>
      </p:sp>
      <p:sp>
        <p:nvSpPr>
          <p:cNvPr id="40" name="Text 38"/>
          <p:cNvSpPr/>
          <p:nvPr/>
        </p:nvSpPr>
        <p:spPr>
          <a:xfrm>
            <a:off x="5367528" y="4407408"/>
            <a:ext cx="3566160" cy="457200"/>
          </a:xfrm>
          <a:prstGeom prst="rect">
            <a:avLst/>
          </a:prstGeom>
          <a:noFill/>
          <a:ln/>
        </p:spPr>
        <p:txBody>
          <a:bodyPr wrap="square" lIns="0" tIns="0" rIns="0" bIns="0" rtlCol="0" anchor="t"/>
          <a:lstStyle/>
          <a:p>
            <a:pPr marL="0" indent="0">
              <a:buNone/>
            </a:pPr>
            <a:r>
              <a:rPr lang="en-US" sz="1000" dirty="0">
                <a:solidFill>
                  <a:srgbClr val="555B6E"/>
                </a:solidFill>
                <a:latin typeface="Calibri" pitchFamily="34" charset="0"/>
                <a:ea typeface="Calibri" pitchFamily="34" charset="-122"/>
                <a:cs typeface="Calibri" pitchFamily="34" charset="-120"/>
              </a:rPr>
              <a:t>Scatter plots: Win Shares vs Salary, PER vs Salary; label top anomalies by name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RESULTS</a:t>
            </a:r>
            <a:endParaRPr lang="en-US" sz="900" dirty="0"/>
          </a:p>
        </p:txBody>
      </p:sp>
      <p:sp>
        <p:nvSpPr>
          <p:cNvPr id="4" name="Text 2"/>
          <p:cNvSpPr/>
          <p:nvPr/>
        </p:nvSpPr>
        <p:spPr>
          <a:xfrm>
            <a:off x="457200" y="41148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Results: Flagged Salary Anomalies</a:t>
            </a:r>
            <a:endParaRPr lang="en-US" sz="2800" dirty="0"/>
          </a:p>
        </p:txBody>
      </p:sp>
      <p:sp>
        <p:nvSpPr>
          <p:cNvPr id="5" name="Text 3"/>
          <p:cNvSpPr/>
          <p:nvPr/>
        </p:nvSpPr>
        <p:spPr>
          <a:xfrm>
            <a:off x="457200" y="913300"/>
            <a:ext cx="8229600" cy="320040"/>
          </a:xfrm>
          <a:prstGeom prst="rect">
            <a:avLst/>
          </a:prstGeom>
          <a:noFill/>
          <a:ln/>
        </p:spPr>
        <p:txBody>
          <a:bodyPr wrap="square" rtlCol="0" anchor="ctr"/>
          <a:lstStyle/>
          <a:p>
            <a:pPr marL="0" indent="0">
              <a:buNone/>
            </a:pPr>
            <a:r>
              <a:rPr lang="en-US" sz="1300" dirty="0">
                <a:solidFill>
                  <a:srgbClr val="3D6BF5"/>
                </a:solidFill>
                <a:latin typeface="Calibri" pitchFamily="34" charset="0"/>
                <a:ea typeface="Calibri" pitchFamily="34" charset="-122"/>
                <a:cs typeface="Calibri" pitchFamily="34" charset="-120"/>
              </a:rPr>
              <a:t>Isolation Forest — 323 players, contamination = 0.10</a:t>
            </a:r>
            <a:endParaRPr lang="en-US" sz="1300" dirty="0"/>
          </a:p>
        </p:txBody>
      </p:sp>
      <p:sp>
        <p:nvSpPr>
          <p:cNvPr id="6" name="Shape 4"/>
          <p:cNvSpPr/>
          <p:nvPr/>
        </p:nvSpPr>
        <p:spPr>
          <a:xfrm>
            <a:off x="124690" y="1177637"/>
            <a:ext cx="5407429" cy="3714404"/>
          </a:xfrm>
          <a:prstGeom prst="rect">
            <a:avLst/>
          </a:prstGeom>
          <a:solidFill>
            <a:srgbClr val="EFF3FF"/>
          </a:solidFill>
          <a:ln w="12700">
            <a:solidFill>
              <a:srgbClr val="EFF3FF"/>
            </a:solidFill>
            <a:prstDash val="solid"/>
          </a:ln>
          <a:effectLst>
            <a:outerShdw blurRad="50800" dist="12700" dir="8100000" algn="bl" rotWithShape="0">
              <a:srgbClr val="BBCCEE">
                <a:alpha val="35000"/>
              </a:srgbClr>
            </a:outerShdw>
          </a:effectLst>
        </p:spPr>
        <p:txBody>
          <a:bodyPr/>
          <a:lstStyle/>
          <a:p>
            <a:endParaRPr lang="en-AU"/>
          </a:p>
        </p:txBody>
      </p:sp>
      <p:sp>
        <p:nvSpPr>
          <p:cNvPr id="7" name="Text 5"/>
          <p:cNvSpPr/>
          <p:nvPr/>
        </p:nvSpPr>
        <p:spPr>
          <a:xfrm>
            <a:off x="548640" y="1463040"/>
            <a:ext cx="4846320" cy="3429000"/>
          </a:xfrm>
          <a:prstGeom prst="rect">
            <a:avLst/>
          </a:prstGeom>
          <a:noFill/>
          <a:ln/>
        </p:spPr>
        <p:txBody>
          <a:bodyPr wrap="square" lIns="0" tIns="0" rIns="0" bIns="0" rtlCol="0" anchor="ctr"/>
          <a:lstStyle/>
          <a:p>
            <a:pPr marL="0" indent="0" algn="ctr">
              <a:buNone/>
            </a:pPr>
            <a:endParaRPr lang="en-US" sz="900" dirty="0"/>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endParaRPr lang="en-US" sz="900" i="1" dirty="0">
              <a:solidFill>
                <a:srgbClr val="555B6E"/>
              </a:solidFill>
            </a:endParaRPr>
          </a:p>
          <a:p>
            <a:pPr marL="0" indent="0" algn="ctr">
              <a:buNone/>
            </a:pPr>
            <a:r>
              <a:rPr lang="en-US" sz="900" i="1" dirty="0">
                <a:solidFill>
                  <a:srgbClr val="555B6E"/>
                </a:solidFill>
              </a:rPr>
              <a:t>IF_ws_vs_salary</a:t>
            </a:r>
            <a:r>
              <a:rPr lang="en-US" sz="900" dirty="0"/>
              <a:t>       </a:t>
            </a:r>
            <a:r>
              <a:rPr lang="en-US" sz="900" i="1" dirty="0">
                <a:solidFill>
                  <a:srgbClr val="555B6E"/>
                </a:solidFill>
              </a:rPr>
              <a:t>🔴 Red = Outlier</a:t>
            </a:r>
            <a:endParaRPr lang="en-US" sz="900" dirty="0"/>
          </a:p>
        </p:txBody>
      </p:sp>
      <p:sp>
        <p:nvSpPr>
          <p:cNvPr id="8" name="Shape 6"/>
          <p:cNvSpPr/>
          <p:nvPr/>
        </p:nvSpPr>
        <p:spPr>
          <a:xfrm>
            <a:off x="5669280" y="1371050"/>
            <a:ext cx="3291840" cy="1600200"/>
          </a:xfrm>
          <a:prstGeom prst="rect">
            <a:avLst/>
          </a:prstGeom>
          <a:solidFill>
            <a:srgbClr val="EFF3FF"/>
          </a:solidFill>
          <a:ln w="12700">
            <a:solidFill>
              <a:srgbClr val="E8274B"/>
            </a:solidFill>
            <a:prstDash val="solid"/>
          </a:ln>
          <a:effectLst>
            <a:outerShdw blurRad="50800" dist="12700" dir="8100000" algn="bl" rotWithShape="0">
              <a:srgbClr val="BBCCEE">
                <a:alpha val="35000"/>
              </a:srgbClr>
            </a:outerShdw>
          </a:effectLst>
        </p:spPr>
        <p:txBody>
          <a:bodyPr/>
          <a:lstStyle/>
          <a:p>
            <a:endParaRPr lang="en-AU"/>
          </a:p>
        </p:txBody>
      </p:sp>
      <p:sp>
        <p:nvSpPr>
          <p:cNvPr id="9" name="Shape 7"/>
          <p:cNvSpPr/>
          <p:nvPr/>
        </p:nvSpPr>
        <p:spPr>
          <a:xfrm>
            <a:off x="5669280" y="1371600"/>
            <a:ext cx="3291840" cy="45720"/>
          </a:xfrm>
          <a:prstGeom prst="rect">
            <a:avLst/>
          </a:prstGeom>
          <a:solidFill>
            <a:srgbClr val="E8274B"/>
          </a:solidFill>
          <a:ln w="12700">
            <a:solidFill>
              <a:srgbClr val="E8274B"/>
            </a:solidFill>
            <a:prstDash val="solid"/>
          </a:ln>
        </p:spPr>
        <p:txBody>
          <a:bodyPr/>
          <a:lstStyle/>
          <a:p>
            <a:endParaRPr lang="en-AU"/>
          </a:p>
        </p:txBody>
      </p:sp>
      <p:sp>
        <p:nvSpPr>
          <p:cNvPr id="10" name="Text 8"/>
          <p:cNvSpPr/>
          <p:nvPr/>
        </p:nvSpPr>
        <p:spPr>
          <a:xfrm>
            <a:off x="5806440" y="1417320"/>
            <a:ext cx="3017520" cy="320040"/>
          </a:xfrm>
          <a:prstGeom prst="rect">
            <a:avLst/>
          </a:prstGeom>
          <a:noFill/>
          <a:ln/>
        </p:spPr>
        <p:txBody>
          <a:bodyPr wrap="square" lIns="0" tIns="0" rIns="0" bIns="0" rtlCol="0" anchor="ctr"/>
          <a:lstStyle/>
          <a:p>
            <a:pPr marL="0" indent="0">
              <a:buNone/>
            </a:pPr>
            <a:r>
              <a:rPr lang="en-US" sz="1100" b="1" dirty="0">
                <a:solidFill>
                  <a:srgbClr val="E8274B"/>
                </a:solidFill>
              </a:rPr>
              <a:t>🔴  TOP OVERPAID</a:t>
            </a:r>
            <a:endParaRPr lang="en-US" sz="1100" dirty="0"/>
          </a:p>
        </p:txBody>
      </p:sp>
      <p:sp>
        <p:nvSpPr>
          <p:cNvPr id="11" name="Text 9"/>
          <p:cNvSpPr/>
          <p:nvPr/>
        </p:nvSpPr>
        <p:spPr>
          <a:xfrm>
            <a:off x="5806440" y="1783080"/>
            <a:ext cx="3017520" cy="1097280"/>
          </a:xfrm>
          <a:prstGeom prst="rect">
            <a:avLst/>
          </a:prstGeom>
          <a:noFill/>
          <a:ln/>
        </p:spPr>
        <p:txBody>
          <a:bodyPr wrap="square" lIns="0" tIns="0" rIns="0" bIns="0" rtlCol="0" anchor="t"/>
          <a:lstStyle/>
          <a:p>
            <a:pPr marL="0" indent="0">
              <a:buNone/>
            </a:pPr>
            <a:r>
              <a:rPr lang="en-US" sz="1000" dirty="0">
                <a:solidFill>
                  <a:srgbClr val="1A1A2E"/>
                </a:solidFill>
                <a:latin typeface="Consolas" pitchFamily="34" charset="0"/>
                <a:ea typeface="Consolas" pitchFamily="34" charset="-122"/>
                <a:cs typeface="Consolas" pitchFamily="34" charset="-120"/>
              </a:rPr>
              <a:t>John Wall   $47.3M  —  WS: 0.3</a:t>
            </a:r>
            <a:endParaRPr lang="en-US" sz="1000" dirty="0"/>
          </a:p>
          <a:p>
            <a:pPr marL="0" indent="0">
              <a:buNone/>
            </a:pPr>
            <a:r>
              <a:rPr lang="en-US" sz="1000" dirty="0">
                <a:solidFill>
                  <a:srgbClr val="1A1A2E"/>
                </a:solidFill>
                <a:latin typeface="Consolas" pitchFamily="34" charset="0"/>
                <a:ea typeface="Consolas" pitchFamily="34" charset="-122"/>
                <a:cs typeface="Consolas" pitchFamily="34" charset="-120"/>
              </a:rPr>
              <a:t>R. Westbrook  $47.1M  —  WS: 1.9</a:t>
            </a:r>
            <a:endParaRPr lang="en-US" sz="1000" dirty="0"/>
          </a:p>
          <a:p>
            <a:pPr marL="0" indent="0">
              <a:buNone/>
            </a:pPr>
            <a:r>
              <a:rPr lang="en-US" sz="1000" dirty="0">
                <a:solidFill>
                  <a:srgbClr val="1A1A2E"/>
                </a:solidFill>
                <a:latin typeface="Consolas" pitchFamily="34" charset="0"/>
                <a:ea typeface="Consolas" pitchFamily="34" charset="-122"/>
                <a:cs typeface="Consolas" pitchFamily="34" charset="-120"/>
              </a:rPr>
              <a:t>Ben Simmons  $35.4M  —  WS: 2.2</a:t>
            </a:r>
            <a:endParaRPr lang="en-US" sz="1000" dirty="0"/>
          </a:p>
          <a:p>
            <a:pPr marL="0" indent="0">
              <a:buNone/>
            </a:pPr>
            <a:r>
              <a:rPr lang="en-US" sz="1000" dirty="0">
                <a:solidFill>
                  <a:srgbClr val="1A1A2E"/>
                </a:solidFill>
                <a:latin typeface="Consolas" pitchFamily="34" charset="0"/>
                <a:ea typeface="Consolas" pitchFamily="34" charset="-122"/>
                <a:cs typeface="Consolas" pitchFamily="34" charset="-120"/>
              </a:rPr>
              <a:t>LeBron James  $44.5M  —  WS: 5.6</a:t>
            </a:r>
            <a:endParaRPr lang="en-US" sz="1000" dirty="0"/>
          </a:p>
        </p:txBody>
      </p:sp>
      <p:sp>
        <p:nvSpPr>
          <p:cNvPr id="12" name="Shape 10"/>
          <p:cNvSpPr/>
          <p:nvPr/>
        </p:nvSpPr>
        <p:spPr>
          <a:xfrm>
            <a:off x="5669280" y="3108960"/>
            <a:ext cx="3291840" cy="1783080"/>
          </a:xfrm>
          <a:prstGeom prst="rect">
            <a:avLst/>
          </a:prstGeom>
          <a:solidFill>
            <a:srgbClr val="EFF3FF"/>
          </a:solidFill>
          <a:ln w="12700">
            <a:solidFill>
              <a:srgbClr val="00A87A"/>
            </a:solidFill>
            <a:prstDash val="solid"/>
          </a:ln>
          <a:effectLst>
            <a:outerShdw blurRad="50800" dist="12700" dir="8100000" algn="bl" rotWithShape="0">
              <a:srgbClr val="BBCCEE">
                <a:alpha val="35000"/>
              </a:srgbClr>
            </a:outerShdw>
          </a:effectLst>
        </p:spPr>
        <p:txBody>
          <a:bodyPr/>
          <a:lstStyle/>
          <a:p>
            <a:endParaRPr lang="en-AU"/>
          </a:p>
        </p:txBody>
      </p:sp>
      <p:sp>
        <p:nvSpPr>
          <p:cNvPr id="13" name="Shape 11"/>
          <p:cNvSpPr/>
          <p:nvPr/>
        </p:nvSpPr>
        <p:spPr>
          <a:xfrm>
            <a:off x="5669280" y="3108960"/>
            <a:ext cx="3291840" cy="45720"/>
          </a:xfrm>
          <a:prstGeom prst="rect">
            <a:avLst/>
          </a:prstGeom>
          <a:solidFill>
            <a:srgbClr val="00A87A"/>
          </a:solidFill>
          <a:ln w="12700">
            <a:solidFill>
              <a:srgbClr val="00A87A"/>
            </a:solidFill>
            <a:prstDash val="solid"/>
          </a:ln>
        </p:spPr>
        <p:txBody>
          <a:bodyPr/>
          <a:lstStyle/>
          <a:p>
            <a:endParaRPr lang="en-AU"/>
          </a:p>
        </p:txBody>
      </p:sp>
      <p:sp>
        <p:nvSpPr>
          <p:cNvPr id="14" name="Text 12"/>
          <p:cNvSpPr/>
          <p:nvPr/>
        </p:nvSpPr>
        <p:spPr>
          <a:xfrm>
            <a:off x="5806440" y="3154680"/>
            <a:ext cx="3017520" cy="320040"/>
          </a:xfrm>
          <a:prstGeom prst="rect">
            <a:avLst/>
          </a:prstGeom>
          <a:noFill/>
          <a:ln/>
        </p:spPr>
        <p:txBody>
          <a:bodyPr wrap="square" lIns="0" tIns="0" rIns="0" bIns="0" rtlCol="0" anchor="ctr"/>
          <a:lstStyle/>
          <a:p>
            <a:pPr marL="0" indent="0">
              <a:buNone/>
            </a:pPr>
            <a:r>
              <a:rPr lang="en-US" sz="1100" b="1" dirty="0">
                <a:solidFill>
                  <a:srgbClr val="00A87A"/>
                </a:solidFill>
              </a:rPr>
              <a:t>🟢  TOP UNDERPAID</a:t>
            </a:r>
            <a:endParaRPr lang="en-US" sz="1100" dirty="0"/>
          </a:p>
        </p:txBody>
      </p:sp>
      <p:sp>
        <p:nvSpPr>
          <p:cNvPr id="15" name="Text 13"/>
          <p:cNvSpPr/>
          <p:nvPr/>
        </p:nvSpPr>
        <p:spPr>
          <a:xfrm>
            <a:off x="5806440" y="3520440"/>
            <a:ext cx="3017520" cy="1280160"/>
          </a:xfrm>
          <a:prstGeom prst="rect">
            <a:avLst/>
          </a:prstGeom>
          <a:noFill/>
          <a:ln/>
        </p:spPr>
        <p:txBody>
          <a:bodyPr wrap="square" lIns="0" tIns="0" rIns="0" bIns="0" rtlCol="0" anchor="t"/>
          <a:lstStyle/>
          <a:p>
            <a:pPr marL="0" indent="0">
              <a:buNone/>
            </a:pPr>
            <a:r>
              <a:rPr lang="en-US" sz="1000" dirty="0">
                <a:solidFill>
                  <a:srgbClr val="1A1A2E"/>
                </a:solidFill>
                <a:latin typeface="Consolas" pitchFamily="34" charset="0"/>
                <a:ea typeface="Consolas" pitchFamily="34" charset="-122"/>
                <a:cs typeface="Consolas" pitchFamily="34" charset="-120"/>
              </a:rPr>
              <a:t>Desmond Bane  $2.1M  —  WS: 5.8</a:t>
            </a:r>
            <a:endParaRPr lang="en-US" sz="1000" dirty="0"/>
          </a:p>
          <a:p>
            <a:pPr marL="0" indent="0">
              <a:buNone/>
            </a:pPr>
            <a:r>
              <a:rPr lang="en-US" sz="1000" dirty="0">
                <a:solidFill>
                  <a:srgbClr val="1A1A2E"/>
                </a:solidFill>
                <a:latin typeface="Consolas" pitchFamily="34" charset="0"/>
                <a:ea typeface="Consolas" pitchFamily="34" charset="-122"/>
                <a:cs typeface="Consolas" pitchFamily="34" charset="-120"/>
              </a:rPr>
              <a:t>Walker Kessler  $2.7M  —  WS: 7.1</a:t>
            </a:r>
            <a:endParaRPr lang="en-US" sz="1000" dirty="0"/>
          </a:p>
          <a:p>
            <a:pPr marL="0" indent="0">
              <a:buNone/>
            </a:pPr>
            <a:r>
              <a:rPr lang="en-US" sz="1000" dirty="0">
                <a:solidFill>
                  <a:srgbClr val="1A1A2E"/>
                </a:solidFill>
                <a:latin typeface="Consolas" pitchFamily="34" charset="0"/>
                <a:ea typeface="Consolas" pitchFamily="34" charset="-122"/>
                <a:cs typeface="Consolas" pitchFamily="34" charset="-120"/>
              </a:rPr>
              <a:t>Tyrese Maxey  $2.7M  —  WS: 5.4</a:t>
            </a:r>
            <a:endParaRPr lang="en-US" sz="1000" dirty="0"/>
          </a:p>
          <a:p>
            <a:pPr marL="0" indent="0">
              <a:buNone/>
            </a:pPr>
            <a:r>
              <a:rPr lang="en-US" sz="1000" dirty="0">
                <a:solidFill>
                  <a:srgbClr val="1A1A2E"/>
                </a:solidFill>
                <a:latin typeface="Consolas" pitchFamily="34" charset="0"/>
                <a:ea typeface="Consolas" pitchFamily="34" charset="-122"/>
                <a:cs typeface="Consolas" pitchFamily="34" charset="-120"/>
              </a:rPr>
              <a:t>Anthony Lamb  $0.7M  —  WS: 2.4</a:t>
            </a:r>
            <a:endParaRPr lang="en-US" sz="1000" dirty="0"/>
          </a:p>
        </p:txBody>
      </p:sp>
      <p:sp>
        <p:nvSpPr>
          <p:cNvPr id="16" name="Text 14"/>
          <p:cNvSpPr/>
          <p:nvPr/>
        </p:nvSpPr>
        <p:spPr>
          <a:xfrm>
            <a:off x="457200" y="4933601"/>
            <a:ext cx="8229600" cy="228600"/>
          </a:xfrm>
          <a:prstGeom prst="rect">
            <a:avLst/>
          </a:prstGeom>
          <a:noFill/>
          <a:ln/>
        </p:spPr>
        <p:txBody>
          <a:bodyPr wrap="square" lIns="0" tIns="0" rIns="0" bIns="0" rtlCol="0" anchor="ctr"/>
          <a:lstStyle/>
          <a:p>
            <a:pPr marL="0" indent="0" algn="ctr">
              <a:buNone/>
            </a:pPr>
            <a:r>
              <a:rPr lang="en-US" sz="900" i="1" dirty="0">
                <a:solidFill>
                  <a:srgbClr val="555B6E"/>
                </a:solidFill>
              </a:rPr>
              <a:t>Isolation Forest flagged 33 outliers (10.2% of filtered dataset)  ·  LOF agreed on 19 of 33 cases</a:t>
            </a:r>
            <a:endParaRPr lang="en-US" sz="900" dirty="0"/>
          </a:p>
        </p:txBody>
      </p:sp>
      <p:pic>
        <p:nvPicPr>
          <p:cNvPr id="18" name="Picture 17">
            <a:extLst>
              <a:ext uri="{FF2B5EF4-FFF2-40B4-BE49-F238E27FC236}">
                <a16:creationId xmlns:a16="http://schemas.microsoft.com/office/drawing/2014/main" id="{2EC468CF-55D9-1BD8-AA07-C5C0B09BAC98}"/>
              </a:ext>
            </a:extLst>
          </p:cNvPr>
          <p:cNvPicPr>
            <a:picLocks noChangeAspect="1"/>
          </p:cNvPicPr>
          <p:nvPr/>
        </p:nvPicPr>
        <p:blipFill>
          <a:blip r:embed="rId3"/>
          <a:stretch>
            <a:fillRect/>
          </a:stretch>
        </p:blipFill>
        <p:spPr>
          <a:xfrm>
            <a:off x="182880" y="1253844"/>
            <a:ext cx="5302200" cy="33264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RESULTS</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Supporting Visualisations</a:t>
            </a:r>
            <a:endParaRPr lang="en-US" sz="2800" dirty="0"/>
          </a:p>
        </p:txBody>
      </p:sp>
      <p:sp>
        <p:nvSpPr>
          <p:cNvPr id="11" name="Shape 9"/>
          <p:cNvSpPr/>
          <p:nvPr/>
        </p:nvSpPr>
        <p:spPr>
          <a:xfrm>
            <a:off x="457200" y="1239982"/>
            <a:ext cx="8458200" cy="3400598"/>
          </a:xfrm>
          <a:prstGeom prst="rect">
            <a:avLst/>
          </a:prstGeom>
          <a:solidFill>
            <a:srgbClr val="EFF3FF"/>
          </a:solidFill>
          <a:ln w="12700">
            <a:solidFill>
              <a:srgbClr val="EFF3FF"/>
            </a:solidFill>
            <a:prstDash val="solid"/>
          </a:ln>
          <a:effectLst>
            <a:outerShdw blurRad="50800" dist="12700" dir="8100000" algn="bl" rotWithShape="0">
              <a:srgbClr val="BBCCEE">
                <a:alpha val="35000"/>
              </a:srgbClr>
            </a:outerShdw>
          </a:effectLst>
        </p:spPr>
        <p:txBody>
          <a:bodyPr/>
          <a:lstStyle/>
          <a:p>
            <a:endParaRPr lang="en-AU"/>
          </a:p>
        </p:txBody>
      </p:sp>
      <p:sp>
        <p:nvSpPr>
          <p:cNvPr id="12" name="Text 10"/>
          <p:cNvSpPr/>
          <p:nvPr/>
        </p:nvSpPr>
        <p:spPr>
          <a:xfrm>
            <a:off x="3429000" y="4371802"/>
            <a:ext cx="2514600" cy="268778"/>
          </a:xfrm>
          <a:prstGeom prst="rect">
            <a:avLst/>
          </a:prstGeom>
          <a:noFill/>
          <a:ln/>
        </p:spPr>
        <p:txBody>
          <a:bodyPr wrap="square" lIns="0" tIns="0" rIns="0" bIns="0" rtlCol="0" anchor="ctr"/>
          <a:lstStyle/>
          <a:p>
            <a:pPr marL="0" indent="0" algn="ctr">
              <a:buNone/>
            </a:pPr>
            <a:r>
              <a:rPr lang="en-US" sz="900" i="1" dirty="0">
                <a:solidFill>
                  <a:srgbClr val="555B6E"/>
                </a:solidFill>
              </a:rPr>
              <a:t>IF_vs_LOF_comparison.png</a:t>
            </a:r>
            <a:endParaRPr lang="en-US" sz="900" dirty="0"/>
          </a:p>
        </p:txBody>
      </p:sp>
      <p:sp>
        <p:nvSpPr>
          <p:cNvPr id="13" name="Text 11"/>
          <p:cNvSpPr/>
          <p:nvPr/>
        </p:nvSpPr>
        <p:spPr>
          <a:xfrm>
            <a:off x="3429000" y="4699492"/>
            <a:ext cx="2514600" cy="347472"/>
          </a:xfrm>
          <a:prstGeom prst="rect">
            <a:avLst/>
          </a:prstGeom>
          <a:noFill/>
          <a:ln/>
        </p:spPr>
        <p:txBody>
          <a:bodyPr wrap="square" lIns="0" tIns="0" rIns="0" bIns="0" rtlCol="0" anchor="ctr"/>
          <a:lstStyle/>
          <a:p>
            <a:pPr marL="0" indent="0" algn="ctr">
              <a:buNone/>
            </a:pPr>
            <a:r>
              <a:rPr lang="en-US" sz="850" dirty="0">
                <a:solidFill>
                  <a:srgbClr val="3D6BF5"/>
                </a:solidFill>
              </a:rPr>
              <a:t>Isolation Forest vs LOF — Agreement Map</a:t>
            </a:r>
            <a:endParaRPr lang="en-US" sz="850" dirty="0"/>
          </a:p>
        </p:txBody>
      </p:sp>
      <p:pic>
        <p:nvPicPr>
          <p:cNvPr id="21" name="Picture 20">
            <a:extLst>
              <a:ext uri="{FF2B5EF4-FFF2-40B4-BE49-F238E27FC236}">
                <a16:creationId xmlns:a16="http://schemas.microsoft.com/office/drawing/2014/main" id="{A0B54D16-40D1-F8CC-AF9B-D6AFF37FDC09}"/>
              </a:ext>
            </a:extLst>
          </p:cNvPr>
          <p:cNvPicPr>
            <a:picLocks noChangeAspect="1"/>
          </p:cNvPicPr>
          <p:nvPr/>
        </p:nvPicPr>
        <p:blipFill>
          <a:blip r:embed="rId3"/>
          <a:stretch>
            <a:fillRect/>
          </a:stretch>
        </p:blipFill>
        <p:spPr>
          <a:xfrm>
            <a:off x="831272" y="1415212"/>
            <a:ext cx="7703128" cy="27882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DISCUSSION</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Discussion</a:t>
            </a:r>
            <a:endParaRPr lang="en-US" sz="2800" dirty="0"/>
          </a:p>
        </p:txBody>
      </p:sp>
      <p:sp>
        <p:nvSpPr>
          <p:cNvPr id="5" name="Shape 3"/>
          <p:cNvSpPr/>
          <p:nvPr/>
        </p:nvSpPr>
        <p:spPr>
          <a:xfrm>
            <a:off x="457200" y="1371600"/>
            <a:ext cx="8229600" cy="1280160"/>
          </a:xfrm>
          <a:prstGeom prst="rect">
            <a:avLst/>
          </a:prstGeom>
          <a:solidFill>
            <a:srgbClr val="EFF3FF"/>
          </a:solidFill>
          <a:ln w="12700">
            <a:solidFill>
              <a:srgbClr val="E6A817"/>
            </a:solidFill>
            <a:prstDash val="solid"/>
          </a:ln>
          <a:effectLst>
            <a:outerShdw blurRad="50800" dist="12700" dir="8100000" algn="bl" rotWithShape="0">
              <a:srgbClr val="BBCCEE">
                <a:alpha val="35000"/>
              </a:srgbClr>
            </a:outerShdw>
          </a:effectLst>
        </p:spPr>
        <p:txBody>
          <a:bodyPr/>
          <a:lstStyle/>
          <a:p>
            <a:endParaRPr lang="en-AU"/>
          </a:p>
        </p:txBody>
      </p:sp>
      <p:sp>
        <p:nvSpPr>
          <p:cNvPr id="6" name="Shape 4"/>
          <p:cNvSpPr/>
          <p:nvPr/>
        </p:nvSpPr>
        <p:spPr>
          <a:xfrm>
            <a:off x="457200" y="1371600"/>
            <a:ext cx="8229600" cy="45720"/>
          </a:xfrm>
          <a:prstGeom prst="rect">
            <a:avLst/>
          </a:prstGeom>
          <a:solidFill>
            <a:srgbClr val="E6A817"/>
          </a:solidFill>
          <a:ln w="12700">
            <a:solidFill>
              <a:srgbClr val="E6A817"/>
            </a:solidFill>
            <a:prstDash val="solid"/>
          </a:ln>
        </p:spPr>
        <p:txBody>
          <a:bodyPr/>
          <a:lstStyle/>
          <a:p>
            <a:endParaRPr lang="en-AU"/>
          </a:p>
        </p:txBody>
      </p:sp>
      <p:sp>
        <p:nvSpPr>
          <p:cNvPr id="7" name="Text 5"/>
          <p:cNvSpPr/>
          <p:nvPr/>
        </p:nvSpPr>
        <p:spPr>
          <a:xfrm>
            <a:off x="640080" y="1417320"/>
            <a:ext cx="7955280" cy="320040"/>
          </a:xfrm>
          <a:prstGeom prst="rect">
            <a:avLst/>
          </a:prstGeom>
          <a:noFill/>
          <a:ln/>
        </p:spPr>
        <p:txBody>
          <a:bodyPr wrap="square" lIns="0" tIns="0" rIns="0" bIns="0" rtlCol="0" anchor="ctr"/>
          <a:lstStyle/>
          <a:p>
            <a:pPr marL="0" indent="0">
              <a:buNone/>
            </a:pPr>
            <a:r>
              <a:rPr lang="en-US" sz="1100" b="1" dirty="0">
                <a:solidFill>
                  <a:srgbClr val="E6A817"/>
                </a:solidFill>
              </a:rPr>
              <a:t>Domain Knowledge Check — LeBron James (#5 Flagged Overpaid)</a:t>
            </a:r>
            <a:endParaRPr lang="en-US" sz="1100" dirty="0"/>
          </a:p>
        </p:txBody>
      </p:sp>
      <p:sp>
        <p:nvSpPr>
          <p:cNvPr id="8" name="Text 6"/>
          <p:cNvSpPr/>
          <p:nvPr/>
        </p:nvSpPr>
        <p:spPr>
          <a:xfrm>
            <a:off x="640080" y="1783080"/>
            <a:ext cx="7955280" cy="777240"/>
          </a:xfrm>
          <a:prstGeom prst="rect">
            <a:avLst/>
          </a:prstGeom>
          <a:noFill/>
          <a:ln/>
        </p:spPr>
        <p:txBody>
          <a:bodyPr wrap="square" rtlCol="0" anchor="t"/>
          <a:lstStyle/>
          <a:p>
            <a:pPr marL="342900" indent="-342900">
              <a:spcAft>
                <a:spcPts val="100"/>
              </a:spcAft>
              <a:buSzPct val="100000"/>
              <a:buChar char="•"/>
            </a:pPr>
            <a:r>
              <a:rPr lang="en-US" sz="1050" dirty="0">
                <a:solidFill>
                  <a:srgbClr val="1A1A2E"/>
                </a:solidFill>
                <a:latin typeface="Calibri" pitchFamily="34" charset="0"/>
                <a:ea typeface="Calibri" pitchFamily="34" charset="-122"/>
                <a:cs typeface="Calibri" pitchFamily="34" charset="-120"/>
              </a:rPr>
              <a:t>$44.5M salary, WS: 5.6 → $6.7M per win — flagged as overpaid by model</a:t>
            </a:r>
            <a:endParaRPr lang="en-US" sz="1050" dirty="0"/>
          </a:p>
          <a:p>
            <a:pPr marL="342900" indent="-342900">
              <a:spcAft>
                <a:spcPts val="100"/>
              </a:spcAft>
              <a:buSzPct val="100000"/>
              <a:buChar char="•"/>
            </a:pPr>
            <a:r>
              <a:rPr lang="en-US" sz="1050" dirty="0">
                <a:solidFill>
                  <a:srgbClr val="1A1A2E"/>
                </a:solidFill>
                <a:latin typeface="Calibri" pitchFamily="34" charset="0"/>
                <a:ea typeface="Calibri" pitchFamily="34" charset="-122"/>
                <a:cs typeface="Calibri" pitchFamily="34" charset="-120"/>
              </a:rPr>
              <a:t>27 games missed (injury); then led Lakers from 2-10 to Western Conference Finals (same year he broke NBA scoring record).</a:t>
            </a:r>
            <a:endParaRPr lang="en-US" sz="1050" dirty="0"/>
          </a:p>
          <a:p>
            <a:pPr marL="342900" indent="-342900">
              <a:spcAft>
                <a:spcPts val="100"/>
              </a:spcAft>
              <a:buSzPct val="100000"/>
              <a:buChar char="•"/>
            </a:pPr>
            <a:r>
              <a:rPr lang="en-US" sz="1050" dirty="0">
                <a:solidFill>
                  <a:srgbClr val="E6A817"/>
                </a:solidFill>
                <a:latin typeface="Calibri" pitchFamily="34" charset="0"/>
                <a:ea typeface="Calibri" pitchFamily="34" charset="-122"/>
                <a:cs typeface="Calibri" pitchFamily="34" charset="-120"/>
              </a:rPr>
              <a:t>Lesson: data-driven does not mean data-only — human judgment must complement algorithmic output</a:t>
            </a:r>
            <a:endParaRPr lang="en-US" sz="1050" dirty="0"/>
          </a:p>
        </p:txBody>
      </p:sp>
      <p:sp>
        <p:nvSpPr>
          <p:cNvPr id="9" name="Shape 7"/>
          <p:cNvSpPr/>
          <p:nvPr/>
        </p:nvSpPr>
        <p:spPr>
          <a:xfrm>
            <a:off x="457200" y="2788920"/>
            <a:ext cx="4114800" cy="2148840"/>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endParaRPr lang="en-AU"/>
          </a:p>
        </p:txBody>
      </p:sp>
      <p:sp>
        <p:nvSpPr>
          <p:cNvPr id="10" name="Shape 8"/>
          <p:cNvSpPr/>
          <p:nvPr/>
        </p:nvSpPr>
        <p:spPr>
          <a:xfrm>
            <a:off x="457200" y="2788920"/>
            <a:ext cx="4114800" cy="45720"/>
          </a:xfrm>
          <a:prstGeom prst="rect">
            <a:avLst/>
          </a:prstGeom>
          <a:solidFill>
            <a:srgbClr val="3D6BF5"/>
          </a:solidFill>
          <a:ln w="12700">
            <a:solidFill>
              <a:srgbClr val="3D6BF5"/>
            </a:solidFill>
            <a:prstDash val="solid"/>
          </a:ln>
        </p:spPr>
        <p:txBody>
          <a:bodyPr/>
          <a:lstStyle/>
          <a:p>
            <a:endParaRPr lang="en-AU"/>
          </a:p>
        </p:txBody>
      </p:sp>
      <p:sp>
        <p:nvSpPr>
          <p:cNvPr id="11" name="Text 9"/>
          <p:cNvSpPr/>
          <p:nvPr/>
        </p:nvSpPr>
        <p:spPr>
          <a:xfrm>
            <a:off x="594360" y="2834640"/>
            <a:ext cx="3840480" cy="320040"/>
          </a:xfrm>
          <a:prstGeom prst="rect">
            <a:avLst/>
          </a:prstGeom>
          <a:noFill/>
          <a:ln/>
        </p:spPr>
        <p:txBody>
          <a:bodyPr wrap="square" lIns="0" tIns="0" rIns="0" bIns="0" rtlCol="0" anchor="ctr"/>
          <a:lstStyle/>
          <a:p>
            <a:pPr marL="0" indent="0">
              <a:buNone/>
            </a:pPr>
            <a:r>
              <a:rPr lang="en-US" sz="1100" b="1" dirty="0">
                <a:solidFill>
                  <a:srgbClr val="3D6BF5"/>
                </a:solidFill>
              </a:rPr>
              <a:t>IF vs LOF Comparison</a:t>
            </a:r>
            <a:endParaRPr lang="en-US" sz="1100" dirty="0"/>
          </a:p>
        </p:txBody>
      </p:sp>
      <p:sp>
        <p:nvSpPr>
          <p:cNvPr id="12" name="Text 10"/>
          <p:cNvSpPr/>
          <p:nvPr/>
        </p:nvSpPr>
        <p:spPr>
          <a:xfrm>
            <a:off x="594360" y="3200400"/>
            <a:ext cx="3840480" cy="1645920"/>
          </a:xfrm>
          <a:prstGeom prst="rect">
            <a:avLst/>
          </a:prstGeom>
          <a:noFill/>
          <a:ln/>
        </p:spPr>
        <p:txBody>
          <a:bodyPr wrap="square" rtlCol="0" anchor="t"/>
          <a:lstStyle/>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Both agree on 19/33 flagged — strongest anomaly cases</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IF-only (14): global outliers — extreme salaries far from median</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LOF-only (14): local density anomalies IF missed</a:t>
            </a:r>
            <a:endParaRPr lang="en-US" sz="1050" dirty="0"/>
          </a:p>
          <a:p>
            <a:pPr marL="342900" indent="-342900">
              <a:spcAft>
                <a:spcPts val="200"/>
              </a:spcAft>
              <a:buSzPct val="100000"/>
              <a:buChar char="•"/>
            </a:pPr>
            <a:r>
              <a:rPr lang="en-US" sz="1050" dirty="0">
                <a:solidFill>
                  <a:srgbClr val="3D6BF5"/>
                </a:solidFill>
                <a:latin typeface="Calibri" pitchFamily="34" charset="0"/>
                <a:ea typeface="Calibri" pitchFamily="34" charset="-122"/>
                <a:cs typeface="Calibri" pitchFamily="34" charset="-120"/>
              </a:rPr>
              <a:t>IF better suited here — NBA salary outliers are global, not local density effects</a:t>
            </a:r>
            <a:endParaRPr lang="en-US" sz="1050" dirty="0"/>
          </a:p>
        </p:txBody>
      </p:sp>
      <p:sp>
        <p:nvSpPr>
          <p:cNvPr id="13" name="Shape 11"/>
          <p:cNvSpPr/>
          <p:nvPr/>
        </p:nvSpPr>
        <p:spPr>
          <a:xfrm>
            <a:off x="4754880" y="2788920"/>
            <a:ext cx="3931920" cy="2148840"/>
          </a:xfrm>
          <a:prstGeom prst="rect">
            <a:avLst/>
          </a:prstGeom>
          <a:solidFill>
            <a:srgbClr val="EFF3FF"/>
          </a:solidFill>
          <a:ln w="12700">
            <a:solidFill>
              <a:srgbClr val="E8274B"/>
            </a:solidFill>
            <a:prstDash val="solid"/>
          </a:ln>
          <a:effectLst>
            <a:outerShdw blurRad="50800" dist="12700" dir="8100000" algn="bl" rotWithShape="0">
              <a:srgbClr val="BBCCEE">
                <a:alpha val="35000"/>
              </a:srgbClr>
            </a:outerShdw>
          </a:effectLst>
        </p:spPr>
        <p:txBody>
          <a:bodyPr/>
          <a:lstStyle/>
          <a:p>
            <a:endParaRPr lang="en-AU"/>
          </a:p>
        </p:txBody>
      </p:sp>
      <p:sp>
        <p:nvSpPr>
          <p:cNvPr id="14" name="Shape 12"/>
          <p:cNvSpPr/>
          <p:nvPr/>
        </p:nvSpPr>
        <p:spPr>
          <a:xfrm>
            <a:off x="4754880" y="2788920"/>
            <a:ext cx="3931920" cy="45720"/>
          </a:xfrm>
          <a:prstGeom prst="rect">
            <a:avLst/>
          </a:prstGeom>
          <a:solidFill>
            <a:srgbClr val="E8274B"/>
          </a:solidFill>
          <a:ln w="12700">
            <a:solidFill>
              <a:srgbClr val="E8274B"/>
            </a:solidFill>
            <a:prstDash val="solid"/>
          </a:ln>
        </p:spPr>
        <p:txBody>
          <a:bodyPr/>
          <a:lstStyle/>
          <a:p>
            <a:endParaRPr lang="en-AU"/>
          </a:p>
        </p:txBody>
      </p:sp>
      <p:sp>
        <p:nvSpPr>
          <p:cNvPr id="15" name="Text 13"/>
          <p:cNvSpPr/>
          <p:nvPr/>
        </p:nvSpPr>
        <p:spPr>
          <a:xfrm>
            <a:off x="4892040" y="2834640"/>
            <a:ext cx="3657600" cy="320040"/>
          </a:xfrm>
          <a:prstGeom prst="rect">
            <a:avLst/>
          </a:prstGeom>
          <a:noFill/>
          <a:ln/>
        </p:spPr>
        <p:txBody>
          <a:bodyPr wrap="square" lIns="0" tIns="0" rIns="0" bIns="0" rtlCol="0" anchor="ctr"/>
          <a:lstStyle/>
          <a:p>
            <a:pPr marL="0" indent="0">
              <a:buNone/>
            </a:pPr>
            <a:r>
              <a:rPr lang="en-US" sz="1100" b="1" dirty="0">
                <a:solidFill>
                  <a:srgbClr val="E8274B"/>
                </a:solidFill>
              </a:rPr>
              <a:t>Limitations</a:t>
            </a:r>
            <a:endParaRPr lang="en-US" sz="1100" dirty="0"/>
          </a:p>
        </p:txBody>
      </p:sp>
      <p:sp>
        <p:nvSpPr>
          <p:cNvPr id="16" name="Text 14"/>
          <p:cNvSpPr/>
          <p:nvPr/>
        </p:nvSpPr>
        <p:spPr>
          <a:xfrm>
            <a:off x="4892040" y="3200400"/>
            <a:ext cx="3657600" cy="1645920"/>
          </a:xfrm>
          <a:prstGeom prst="rect">
            <a:avLst/>
          </a:prstGeom>
          <a:noFill/>
          <a:ln/>
        </p:spPr>
        <p:txBody>
          <a:bodyPr wrap="square" rtlCol="0" anchor="t"/>
          <a:lstStyle/>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Single-season only — does not reflect multi-year contract context</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Salary reflects future potential, not just current stats</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WS is a counting stat — injury reduces accumulation even if per-game impact is elite</a:t>
            </a:r>
            <a:endParaRPr lang="en-US" sz="1050" dirty="0"/>
          </a:p>
          <a:p>
            <a:pPr marL="342900" indent="-342900">
              <a:spcAft>
                <a:spcPts val="200"/>
              </a:spcAft>
              <a:buSzPct val="100000"/>
              <a:buChar char="•"/>
            </a:pPr>
            <a:r>
              <a:rPr lang="en-US" sz="1050" dirty="0">
                <a:solidFill>
                  <a:srgbClr val="1A1A2E"/>
                </a:solidFill>
                <a:latin typeface="Calibri" pitchFamily="34" charset="0"/>
                <a:ea typeface="Calibri" pitchFamily="34" charset="-122"/>
                <a:cs typeface="Calibri" pitchFamily="34" charset="-120"/>
              </a:rPr>
              <a:t>Intangibles (leadership, marketability) are invisible to the model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CONCLUSION</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Conclusion</a:t>
            </a:r>
            <a:endParaRPr lang="en-US" sz="2800" dirty="0"/>
          </a:p>
        </p:txBody>
      </p:sp>
      <p:sp>
        <p:nvSpPr>
          <p:cNvPr id="5" name="Shape 3"/>
          <p:cNvSpPr/>
          <p:nvPr/>
        </p:nvSpPr>
        <p:spPr>
          <a:xfrm>
            <a:off x="466344" y="1271017"/>
            <a:ext cx="8229600" cy="1883664"/>
          </a:xfrm>
          <a:prstGeom prst="rect">
            <a:avLst/>
          </a:prstGeom>
          <a:solidFill>
            <a:srgbClr val="EFF3FF"/>
          </a:solidFill>
          <a:ln w="12700">
            <a:solidFill>
              <a:srgbClr val="3D6BF5"/>
            </a:solidFill>
            <a:prstDash val="solid"/>
          </a:ln>
          <a:effectLst>
            <a:outerShdw blurRad="50800" dist="12700" dir="8100000" algn="bl" rotWithShape="0">
              <a:srgbClr val="BBCCEE">
                <a:alpha val="35000"/>
              </a:srgbClr>
            </a:outerShdw>
          </a:effectLst>
        </p:spPr>
        <p:txBody>
          <a:bodyPr/>
          <a:lstStyle/>
          <a:p>
            <a:r>
              <a:rPr lang="en-US" dirty="0"/>
              <a:t>.</a:t>
            </a:r>
            <a:endParaRPr lang="en-AU" dirty="0"/>
          </a:p>
        </p:txBody>
      </p:sp>
      <p:sp>
        <p:nvSpPr>
          <p:cNvPr id="6" name="Shape 4"/>
          <p:cNvSpPr/>
          <p:nvPr/>
        </p:nvSpPr>
        <p:spPr>
          <a:xfrm>
            <a:off x="457200" y="1282377"/>
            <a:ext cx="8229600" cy="45720"/>
          </a:xfrm>
          <a:prstGeom prst="rect">
            <a:avLst/>
          </a:prstGeom>
          <a:solidFill>
            <a:srgbClr val="3D6BF5"/>
          </a:solidFill>
          <a:ln w="12700">
            <a:solidFill>
              <a:srgbClr val="3D6BF5"/>
            </a:solidFill>
            <a:prstDash val="solid"/>
          </a:ln>
        </p:spPr>
        <p:txBody>
          <a:bodyPr/>
          <a:lstStyle/>
          <a:p>
            <a:endParaRPr lang="en-AU"/>
          </a:p>
        </p:txBody>
      </p:sp>
      <p:sp>
        <p:nvSpPr>
          <p:cNvPr id="7" name="Text 5"/>
          <p:cNvSpPr/>
          <p:nvPr/>
        </p:nvSpPr>
        <p:spPr>
          <a:xfrm>
            <a:off x="640080" y="1339458"/>
            <a:ext cx="7955280" cy="320040"/>
          </a:xfrm>
          <a:prstGeom prst="rect">
            <a:avLst/>
          </a:prstGeom>
          <a:noFill/>
          <a:ln/>
        </p:spPr>
        <p:txBody>
          <a:bodyPr wrap="square" lIns="0" tIns="0" rIns="0" bIns="0" rtlCol="0" anchor="ctr"/>
          <a:lstStyle/>
          <a:p>
            <a:pPr marL="0" indent="0">
              <a:buNone/>
            </a:pPr>
            <a:r>
              <a:rPr lang="en-US" sz="1100" b="1" dirty="0">
                <a:solidFill>
                  <a:srgbClr val="3D6BF5"/>
                </a:solidFill>
              </a:rPr>
              <a:t>Key Findings</a:t>
            </a:r>
            <a:endParaRPr lang="en-US" sz="1100" dirty="0"/>
          </a:p>
        </p:txBody>
      </p:sp>
      <p:sp>
        <p:nvSpPr>
          <p:cNvPr id="8" name="Text 6"/>
          <p:cNvSpPr/>
          <p:nvPr/>
        </p:nvSpPr>
        <p:spPr>
          <a:xfrm>
            <a:off x="640080" y="1691640"/>
            <a:ext cx="7955280" cy="1508760"/>
          </a:xfrm>
          <a:prstGeom prst="rect">
            <a:avLst/>
          </a:prstGeom>
          <a:noFill/>
          <a:ln/>
        </p:spPr>
        <p:txBody>
          <a:bodyPr wrap="square" rtlCol="0" anchor="t"/>
          <a:lstStyle/>
          <a:p>
            <a:pPr marL="342900" indent="-342900">
              <a:spcAft>
                <a:spcPts val="300"/>
              </a:spcAft>
              <a:buSzPct val="100000"/>
              <a:buChar char="•"/>
            </a:pPr>
            <a:r>
              <a:rPr lang="en-US" sz="1100" dirty="0">
                <a:solidFill>
                  <a:srgbClr val="1A1A2E"/>
                </a:solidFill>
                <a:latin typeface="Calibri" pitchFamily="34" charset="0"/>
                <a:ea typeface="Calibri" pitchFamily="34" charset="-122"/>
                <a:cs typeface="Calibri" pitchFamily="34" charset="-120"/>
              </a:rPr>
              <a:t>Isolation Forest successfully identified 33 statistically anomalous salary cases (10.2% of filtered dataset).</a:t>
            </a:r>
            <a:endParaRPr lang="en-US" sz="1100" dirty="0"/>
          </a:p>
          <a:p>
            <a:pPr marL="342900" indent="-342900">
              <a:spcAft>
                <a:spcPts val="300"/>
              </a:spcAft>
              <a:buSzPct val="100000"/>
              <a:buChar char="•"/>
            </a:pPr>
            <a:r>
              <a:rPr lang="en-US" sz="1100" dirty="0">
                <a:solidFill>
                  <a:srgbClr val="1A1A2E"/>
                </a:solidFill>
                <a:latin typeface="Calibri" pitchFamily="34" charset="0"/>
                <a:ea typeface="Calibri" pitchFamily="34" charset="-122"/>
                <a:cs typeface="Calibri" pitchFamily="34" charset="-120"/>
              </a:rPr>
              <a:t>Top flagged overpaid players (Wall, Westbrook, Simmons) align with publicly known cases — validating the approach.</a:t>
            </a:r>
            <a:endParaRPr lang="en-US" sz="1100" dirty="0"/>
          </a:p>
          <a:p>
            <a:pPr marL="342900" indent="-342900">
              <a:spcAft>
                <a:spcPts val="300"/>
              </a:spcAft>
              <a:buSzPct val="100000"/>
              <a:buChar char="•"/>
            </a:pPr>
            <a:r>
              <a:rPr lang="en-US" sz="1100" dirty="0">
                <a:solidFill>
                  <a:srgbClr val="1A1A2E"/>
                </a:solidFill>
                <a:latin typeface="Calibri" pitchFamily="34" charset="0"/>
                <a:ea typeface="Calibri" pitchFamily="34" charset="-122"/>
                <a:cs typeface="Calibri" pitchFamily="34" charset="-120"/>
              </a:rPr>
              <a:t>Top underpaid players are mostly on rookie-scale contracts — a structural CBA limitation, not a market failure.</a:t>
            </a:r>
            <a:endParaRPr lang="en-US" sz="1100" dirty="0"/>
          </a:p>
          <a:p>
            <a:pPr marL="342900" indent="-342900">
              <a:spcAft>
                <a:spcPts val="300"/>
              </a:spcAft>
              <a:buSzPct val="100000"/>
              <a:buChar char="•"/>
            </a:pPr>
            <a:r>
              <a:rPr lang="en-US" sz="1100" dirty="0">
                <a:solidFill>
                  <a:srgbClr val="1A1A2E"/>
                </a:solidFill>
                <a:latin typeface="Calibri" pitchFamily="34" charset="0"/>
                <a:ea typeface="Calibri" pitchFamily="34" charset="-122"/>
                <a:cs typeface="Calibri" pitchFamily="34" charset="-120"/>
              </a:rPr>
              <a:t>Combining IF and LOF produces more robust conclusions — consensus cases (19/33) are the strongest anomaly candidates.</a:t>
            </a:r>
            <a:endParaRPr lang="en-US" sz="1100" dirty="0"/>
          </a:p>
        </p:txBody>
      </p:sp>
      <p:sp>
        <p:nvSpPr>
          <p:cNvPr id="9" name="Shape 7"/>
          <p:cNvSpPr/>
          <p:nvPr/>
        </p:nvSpPr>
        <p:spPr>
          <a:xfrm>
            <a:off x="457200" y="3314700"/>
            <a:ext cx="8229600" cy="1417320"/>
          </a:xfrm>
          <a:prstGeom prst="rect">
            <a:avLst/>
          </a:prstGeom>
          <a:solidFill>
            <a:srgbClr val="EFF3FF"/>
          </a:solidFill>
          <a:ln w="12700">
            <a:solidFill>
              <a:srgbClr val="EFF3FF"/>
            </a:solidFill>
            <a:prstDash val="solid"/>
          </a:ln>
          <a:effectLst>
            <a:outerShdw blurRad="50800" dist="12700" dir="8100000" algn="bl" rotWithShape="0">
              <a:srgbClr val="BBCCEE">
                <a:alpha val="35000"/>
              </a:srgbClr>
            </a:outerShdw>
          </a:effectLst>
        </p:spPr>
        <p:txBody>
          <a:bodyPr/>
          <a:lstStyle/>
          <a:p>
            <a:endParaRPr lang="en-AU" dirty="0"/>
          </a:p>
        </p:txBody>
      </p:sp>
      <p:sp>
        <p:nvSpPr>
          <p:cNvPr id="10" name="Shape 8"/>
          <p:cNvSpPr/>
          <p:nvPr/>
        </p:nvSpPr>
        <p:spPr>
          <a:xfrm>
            <a:off x="457200" y="3314700"/>
            <a:ext cx="8229600" cy="45720"/>
          </a:xfrm>
          <a:prstGeom prst="rect">
            <a:avLst/>
          </a:prstGeom>
          <a:solidFill>
            <a:srgbClr val="3D6BF5"/>
          </a:solidFill>
          <a:ln w="12700">
            <a:solidFill>
              <a:srgbClr val="3D6BF5"/>
            </a:solidFill>
            <a:prstDash val="solid"/>
          </a:ln>
        </p:spPr>
        <p:txBody>
          <a:bodyPr/>
          <a:lstStyle/>
          <a:p>
            <a:endParaRPr lang="en-AU"/>
          </a:p>
        </p:txBody>
      </p:sp>
      <p:sp>
        <p:nvSpPr>
          <p:cNvPr id="11" name="Text 9"/>
          <p:cNvSpPr/>
          <p:nvPr/>
        </p:nvSpPr>
        <p:spPr>
          <a:xfrm>
            <a:off x="640080" y="3383280"/>
            <a:ext cx="7955280" cy="320040"/>
          </a:xfrm>
          <a:prstGeom prst="rect">
            <a:avLst/>
          </a:prstGeom>
          <a:noFill/>
          <a:ln/>
        </p:spPr>
        <p:txBody>
          <a:bodyPr wrap="square" lIns="0" tIns="0" rIns="0" bIns="0" rtlCol="0" anchor="ctr"/>
          <a:lstStyle/>
          <a:p>
            <a:pPr marL="0" indent="0">
              <a:buNone/>
            </a:pPr>
            <a:r>
              <a:rPr lang="en-US" sz="1100" b="1" dirty="0">
                <a:solidFill>
                  <a:srgbClr val="3D6BF5"/>
                </a:solidFill>
              </a:rPr>
              <a:t>Future Work</a:t>
            </a:r>
            <a:endParaRPr lang="en-US" sz="1100" dirty="0"/>
          </a:p>
        </p:txBody>
      </p:sp>
      <p:sp>
        <p:nvSpPr>
          <p:cNvPr id="12" name="Text 10"/>
          <p:cNvSpPr/>
          <p:nvPr/>
        </p:nvSpPr>
        <p:spPr>
          <a:xfrm>
            <a:off x="640080" y="3671316"/>
            <a:ext cx="7955280" cy="914400"/>
          </a:xfrm>
          <a:prstGeom prst="rect">
            <a:avLst/>
          </a:prstGeom>
          <a:noFill/>
          <a:ln/>
        </p:spPr>
        <p:txBody>
          <a:bodyPr wrap="square" rtlCol="0" anchor="t"/>
          <a:lstStyle/>
          <a:p>
            <a:pPr marL="342900" indent="-342900">
              <a:spcAft>
                <a:spcPts val="300"/>
              </a:spcAft>
              <a:buSzPct val="100000"/>
              <a:buChar char="•"/>
            </a:pPr>
            <a:r>
              <a:rPr lang="en-US" sz="1100" dirty="0">
                <a:solidFill>
                  <a:srgbClr val="1A1A2E"/>
                </a:solidFill>
                <a:latin typeface="Calibri" pitchFamily="34" charset="0"/>
                <a:ea typeface="Calibri" pitchFamily="34" charset="-122"/>
                <a:cs typeface="Calibri" pitchFamily="34" charset="-120"/>
              </a:rPr>
              <a:t>Incorporate multi-season data to capture career trajectory and contract context.</a:t>
            </a:r>
            <a:endParaRPr lang="en-US" sz="1100" dirty="0"/>
          </a:p>
          <a:p>
            <a:pPr marL="342900" indent="-342900">
              <a:spcAft>
                <a:spcPts val="300"/>
              </a:spcAft>
              <a:buSzPct val="100000"/>
              <a:buChar char="•"/>
            </a:pPr>
            <a:r>
              <a:rPr lang="en-US" sz="1100" dirty="0">
                <a:solidFill>
                  <a:srgbClr val="1A1A2E"/>
                </a:solidFill>
                <a:latin typeface="Calibri" pitchFamily="34" charset="0"/>
                <a:ea typeface="Calibri" pitchFamily="34" charset="-122"/>
                <a:cs typeface="Calibri" pitchFamily="34" charset="-120"/>
              </a:rPr>
              <a:t>Add injury history as a feature to separate injury-driven anomalies from true overpayment.</a:t>
            </a:r>
            <a:endParaRPr lang="en-US" sz="1100" dirty="0"/>
          </a:p>
          <a:p>
            <a:pPr marL="342900" indent="-342900">
              <a:spcAft>
                <a:spcPts val="300"/>
              </a:spcAft>
              <a:buSzPct val="100000"/>
              <a:buChar char="•"/>
            </a:pPr>
            <a:r>
              <a:rPr lang="en-US" sz="1100" dirty="0">
                <a:solidFill>
                  <a:srgbClr val="1A1A2E"/>
                </a:solidFill>
                <a:latin typeface="Calibri" pitchFamily="34" charset="0"/>
                <a:ea typeface="Calibri" pitchFamily="34" charset="-122"/>
                <a:cs typeface="Calibri" pitchFamily="34" charset="-120"/>
              </a:rPr>
              <a:t>Apply explanation to which features drive each player's anomaly score.</a:t>
            </a:r>
            <a:endParaRPr lang="en-US" sz="1100" dirty="0"/>
          </a:p>
          <a:p>
            <a:pPr marL="342900" indent="-342900">
              <a:spcAft>
                <a:spcPts val="300"/>
              </a:spcAft>
              <a:buSzPct val="100000"/>
              <a:buChar char="•"/>
            </a:pPr>
            <a:r>
              <a:rPr lang="en-US" sz="1100" dirty="0">
                <a:solidFill>
                  <a:srgbClr val="1A1A2E"/>
                </a:solidFill>
                <a:latin typeface="Calibri" pitchFamily="34" charset="0"/>
                <a:ea typeface="Calibri" pitchFamily="34" charset="-122"/>
                <a:cs typeface="Calibri" pitchFamily="34" charset="-120"/>
              </a:rPr>
              <a:t>Stratify analysis by playing position as centre vs guard salary norms differ significantly.</a:t>
            </a:r>
            <a:endParaRPr lang="en-US" sz="1100" dirty="0"/>
          </a:p>
        </p:txBody>
      </p:sp>
      <p:sp>
        <p:nvSpPr>
          <p:cNvPr id="13" name="Shape 11"/>
          <p:cNvSpPr/>
          <p:nvPr/>
        </p:nvSpPr>
        <p:spPr>
          <a:xfrm>
            <a:off x="7772400"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4" name="Shape 12"/>
          <p:cNvSpPr/>
          <p:nvPr/>
        </p:nvSpPr>
        <p:spPr>
          <a:xfrm>
            <a:off x="8028432"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5" name="Shape 13"/>
          <p:cNvSpPr/>
          <p:nvPr/>
        </p:nvSpPr>
        <p:spPr>
          <a:xfrm>
            <a:off x="8284464"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6" name="Shape 14"/>
          <p:cNvSpPr/>
          <p:nvPr/>
        </p:nvSpPr>
        <p:spPr>
          <a:xfrm>
            <a:off x="8540496"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7" name="Shape 15"/>
          <p:cNvSpPr/>
          <p:nvPr/>
        </p:nvSpPr>
        <p:spPr>
          <a:xfrm>
            <a:off x="8796528" y="5029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8" name="Shape 16"/>
          <p:cNvSpPr/>
          <p:nvPr/>
        </p:nvSpPr>
        <p:spPr>
          <a:xfrm>
            <a:off x="7772400"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9" name="Shape 17"/>
          <p:cNvSpPr/>
          <p:nvPr/>
        </p:nvSpPr>
        <p:spPr>
          <a:xfrm>
            <a:off x="8028432"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0" name="Shape 18"/>
          <p:cNvSpPr/>
          <p:nvPr/>
        </p:nvSpPr>
        <p:spPr>
          <a:xfrm>
            <a:off x="8284464"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1" name="Shape 19"/>
          <p:cNvSpPr/>
          <p:nvPr/>
        </p:nvSpPr>
        <p:spPr>
          <a:xfrm>
            <a:off x="8540496"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2" name="Shape 20"/>
          <p:cNvSpPr/>
          <p:nvPr/>
        </p:nvSpPr>
        <p:spPr>
          <a:xfrm>
            <a:off x="8796528" y="758952"/>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3" name="Shape 21"/>
          <p:cNvSpPr/>
          <p:nvPr/>
        </p:nvSpPr>
        <p:spPr>
          <a:xfrm>
            <a:off x="7772400"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4" name="Shape 22"/>
          <p:cNvSpPr/>
          <p:nvPr/>
        </p:nvSpPr>
        <p:spPr>
          <a:xfrm>
            <a:off x="8028432"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5" name="Shape 23"/>
          <p:cNvSpPr/>
          <p:nvPr/>
        </p:nvSpPr>
        <p:spPr>
          <a:xfrm>
            <a:off x="8284464"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6" name="Shape 24"/>
          <p:cNvSpPr/>
          <p:nvPr/>
        </p:nvSpPr>
        <p:spPr>
          <a:xfrm>
            <a:off x="8540496"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7" name="Shape 25"/>
          <p:cNvSpPr/>
          <p:nvPr/>
        </p:nvSpPr>
        <p:spPr>
          <a:xfrm>
            <a:off x="8796528" y="1014984"/>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8" name="Shape 26"/>
          <p:cNvSpPr/>
          <p:nvPr/>
        </p:nvSpPr>
        <p:spPr>
          <a:xfrm>
            <a:off x="7772400"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9" name="Shape 27"/>
          <p:cNvSpPr/>
          <p:nvPr/>
        </p:nvSpPr>
        <p:spPr>
          <a:xfrm>
            <a:off x="8028432"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0" name="Shape 28"/>
          <p:cNvSpPr/>
          <p:nvPr/>
        </p:nvSpPr>
        <p:spPr>
          <a:xfrm>
            <a:off x="8284464"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1" name="Shape 29"/>
          <p:cNvSpPr/>
          <p:nvPr/>
        </p:nvSpPr>
        <p:spPr>
          <a:xfrm>
            <a:off x="8540496"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2" name="Shape 30"/>
          <p:cNvSpPr/>
          <p:nvPr/>
        </p:nvSpPr>
        <p:spPr>
          <a:xfrm>
            <a:off x="8796528" y="1271016"/>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3" name="Shape 31"/>
          <p:cNvSpPr/>
          <p:nvPr/>
        </p:nvSpPr>
        <p:spPr>
          <a:xfrm>
            <a:off x="7772400"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4" name="Shape 32"/>
          <p:cNvSpPr/>
          <p:nvPr/>
        </p:nvSpPr>
        <p:spPr>
          <a:xfrm>
            <a:off x="8028432"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5" name="Shape 33"/>
          <p:cNvSpPr/>
          <p:nvPr/>
        </p:nvSpPr>
        <p:spPr>
          <a:xfrm>
            <a:off x="8284464"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6" name="Shape 34"/>
          <p:cNvSpPr/>
          <p:nvPr/>
        </p:nvSpPr>
        <p:spPr>
          <a:xfrm>
            <a:off x="8540496"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7" name="Shape 35"/>
          <p:cNvSpPr/>
          <p:nvPr/>
        </p:nvSpPr>
        <p:spPr>
          <a:xfrm>
            <a:off x="8796528" y="1527048"/>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8" name="Text 36"/>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050" i="1" dirty="0">
                <a:solidFill>
                  <a:srgbClr val="555B6E"/>
                </a:solidFill>
              </a:rPr>
              <a:t>Isolation Forest provides an objective, scalable framework for salary anomaly detection — a data-driven complement to subjective front-office valuation.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132320" y="137160"/>
            <a:ext cx="1828800" cy="320040"/>
          </a:xfrm>
          <a:prstGeom prst="rect">
            <a:avLst/>
          </a:prstGeom>
          <a:solidFill>
            <a:srgbClr val="3D6BF5"/>
          </a:solidFill>
          <a:ln w="12700">
            <a:solidFill>
              <a:srgbClr val="3D6BF5"/>
            </a:solidFill>
            <a:prstDash val="solid"/>
          </a:ln>
        </p:spPr>
        <p:txBody>
          <a:bodyPr/>
          <a:lstStyle/>
          <a:p>
            <a:endParaRPr lang="en-AU"/>
          </a:p>
        </p:txBody>
      </p:sp>
      <p:sp>
        <p:nvSpPr>
          <p:cNvPr id="3" name="Text 1"/>
          <p:cNvSpPr/>
          <p:nvPr/>
        </p:nvSpPr>
        <p:spPr>
          <a:xfrm>
            <a:off x="7132320" y="137160"/>
            <a:ext cx="1828800" cy="320040"/>
          </a:xfrm>
          <a:prstGeom prst="rect">
            <a:avLst/>
          </a:prstGeom>
          <a:noFill/>
          <a:ln/>
        </p:spPr>
        <p:txBody>
          <a:bodyPr wrap="square" lIns="0" tIns="0" rIns="0" bIns="0" rtlCol="0" anchor="ctr"/>
          <a:lstStyle/>
          <a:p>
            <a:pPr marL="0" indent="0" algn="ctr">
              <a:buNone/>
            </a:pPr>
            <a:r>
              <a:rPr lang="en-US" sz="900" b="1" dirty="0">
                <a:solidFill>
                  <a:srgbClr val="FFFFFF"/>
                </a:solidFill>
              </a:rPr>
              <a:t>REFERENCES</a:t>
            </a:r>
            <a:endParaRPr lang="en-US" sz="900" dirty="0"/>
          </a:p>
        </p:txBody>
      </p:sp>
      <p:sp>
        <p:nvSpPr>
          <p:cNvPr id="4" name="Shape 2"/>
          <p:cNvSpPr/>
          <p:nvPr/>
        </p:nvSpPr>
        <p:spPr>
          <a:xfrm>
            <a:off x="685800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 name="Shape 3"/>
          <p:cNvSpPr/>
          <p:nvPr/>
        </p:nvSpPr>
        <p:spPr>
          <a:xfrm>
            <a:off x="713232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6" name="Shape 4"/>
          <p:cNvSpPr/>
          <p:nvPr/>
        </p:nvSpPr>
        <p:spPr>
          <a:xfrm>
            <a:off x="740664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7" name="Shape 5"/>
          <p:cNvSpPr/>
          <p:nvPr/>
        </p:nvSpPr>
        <p:spPr>
          <a:xfrm>
            <a:off x="768096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8" name="Shape 6"/>
          <p:cNvSpPr/>
          <p:nvPr/>
        </p:nvSpPr>
        <p:spPr>
          <a:xfrm>
            <a:off x="795528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9" name="Shape 7"/>
          <p:cNvSpPr/>
          <p:nvPr/>
        </p:nvSpPr>
        <p:spPr>
          <a:xfrm>
            <a:off x="8229600" y="4572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0" name="Shape 8"/>
          <p:cNvSpPr/>
          <p:nvPr/>
        </p:nvSpPr>
        <p:spPr>
          <a:xfrm>
            <a:off x="685800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1" name="Shape 9"/>
          <p:cNvSpPr/>
          <p:nvPr/>
        </p:nvSpPr>
        <p:spPr>
          <a:xfrm>
            <a:off x="713232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2" name="Shape 10"/>
          <p:cNvSpPr/>
          <p:nvPr/>
        </p:nvSpPr>
        <p:spPr>
          <a:xfrm>
            <a:off x="740664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3" name="Shape 11"/>
          <p:cNvSpPr/>
          <p:nvPr/>
        </p:nvSpPr>
        <p:spPr>
          <a:xfrm>
            <a:off x="768096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4" name="Shape 12"/>
          <p:cNvSpPr/>
          <p:nvPr/>
        </p:nvSpPr>
        <p:spPr>
          <a:xfrm>
            <a:off x="795528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5" name="Shape 13"/>
          <p:cNvSpPr/>
          <p:nvPr/>
        </p:nvSpPr>
        <p:spPr>
          <a:xfrm>
            <a:off x="8229600" y="7315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6" name="Shape 14"/>
          <p:cNvSpPr/>
          <p:nvPr/>
        </p:nvSpPr>
        <p:spPr>
          <a:xfrm>
            <a:off x="685800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7" name="Shape 15"/>
          <p:cNvSpPr/>
          <p:nvPr/>
        </p:nvSpPr>
        <p:spPr>
          <a:xfrm>
            <a:off x="713232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8" name="Shape 16"/>
          <p:cNvSpPr/>
          <p:nvPr/>
        </p:nvSpPr>
        <p:spPr>
          <a:xfrm>
            <a:off x="740664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19" name="Shape 17"/>
          <p:cNvSpPr/>
          <p:nvPr/>
        </p:nvSpPr>
        <p:spPr>
          <a:xfrm>
            <a:off x="768096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0" name="Shape 18"/>
          <p:cNvSpPr/>
          <p:nvPr/>
        </p:nvSpPr>
        <p:spPr>
          <a:xfrm>
            <a:off x="795528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1" name="Shape 19"/>
          <p:cNvSpPr/>
          <p:nvPr/>
        </p:nvSpPr>
        <p:spPr>
          <a:xfrm>
            <a:off x="8229600" y="10058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2" name="Shape 20"/>
          <p:cNvSpPr/>
          <p:nvPr/>
        </p:nvSpPr>
        <p:spPr>
          <a:xfrm>
            <a:off x="685800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3" name="Shape 21"/>
          <p:cNvSpPr/>
          <p:nvPr/>
        </p:nvSpPr>
        <p:spPr>
          <a:xfrm>
            <a:off x="713232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4" name="Shape 22"/>
          <p:cNvSpPr/>
          <p:nvPr/>
        </p:nvSpPr>
        <p:spPr>
          <a:xfrm>
            <a:off x="740664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5" name="Shape 23"/>
          <p:cNvSpPr/>
          <p:nvPr/>
        </p:nvSpPr>
        <p:spPr>
          <a:xfrm>
            <a:off x="768096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6" name="Shape 24"/>
          <p:cNvSpPr/>
          <p:nvPr/>
        </p:nvSpPr>
        <p:spPr>
          <a:xfrm>
            <a:off x="795528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7" name="Shape 25"/>
          <p:cNvSpPr/>
          <p:nvPr/>
        </p:nvSpPr>
        <p:spPr>
          <a:xfrm>
            <a:off x="8229600" y="128016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8" name="Shape 26"/>
          <p:cNvSpPr/>
          <p:nvPr/>
        </p:nvSpPr>
        <p:spPr>
          <a:xfrm>
            <a:off x="685800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29" name="Shape 27"/>
          <p:cNvSpPr/>
          <p:nvPr/>
        </p:nvSpPr>
        <p:spPr>
          <a:xfrm>
            <a:off x="713232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0" name="Shape 28"/>
          <p:cNvSpPr/>
          <p:nvPr/>
        </p:nvSpPr>
        <p:spPr>
          <a:xfrm>
            <a:off x="740664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1" name="Shape 29"/>
          <p:cNvSpPr/>
          <p:nvPr/>
        </p:nvSpPr>
        <p:spPr>
          <a:xfrm>
            <a:off x="768096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2" name="Shape 30"/>
          <p:cNvSpPr/>
          <p:nvPr/>
        </p:nvSpPr>
        <p:spPr>
          <a:xfrm>
            <a:off x="795528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3" name="Shape 31"/>
          <p:cNvSpPr/>
          <p:nvPr/>
        </p:nvSpPr>
        <p:spPr>
          <a:xfrm>
            <a:off x="8229600" y="155448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4" name="Shape 32"/>
          <p:cNvSpPr/>
          <p:nvPr/>
        </p:nvSpPr>
        <p:spPr>
          <a:xfrm>
            <a:off x="685800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5" name="Shape 33"/>
          <p:cNvSpPr/>
          <p:nvPr/>
        </p:nvSpPr>
        <p:spPr>
          <a:xfrm>
            <a:off x="713232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6" name="Shape 34"/>
          <p:cNvSpPr/>
          <p:nvPr/>
        </p:nvSpPr>
        <p:spPr>
          <a:xfrm>
            <a:off x="740664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7" name="Shape 35"/>
          <p:cNvSpPr/>
          <p:nvPr/>
        </p:nvSpPr>
        <p:spPr>
          <a:xfrm>
            <a:off x="768096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8" name="Shape 36"/>
          <p:cNvSpPr/>
          <p:nvPr/>
        </p:nvSpPr>
        <p:spPr>
          <a:xfrm>
            <a:off x="795528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39" name="Shape 37"/>
          <p:cNvSpPr/>
          <p:nvPr/>
        </p:nvSpPr>
        <p:spPr>
          <a:xfrm>
            <a:off x="8229600" y="182880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0" name="Shape 38"/>
          <p:cNvSpPr/>
          <p:nvPr/>
        </p:nvSpPr>
        <p:spPr>
          <a:xfrm>
            <a:off x="685800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1" name="Shape 39"/>
          <p:cNvSpPr/>
          <p:nvPr/>
        </p:nvSpPr>
        <p:spPr>
          <a:xfrm>
            <a:off x="713232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2" name="Shape 40"/>
          <p:cNvSpPr/>
          <p:nvPr/>
        </p:nvSpPr>
        <p:spPr>
          <a:xfrm>
            <a:off x="740664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3" name="Shape 41"/>
          <p:cNvSpPr/>
          <p:nvPr/>
        </p:nvSpPr>
        <p:spPr>
          <a:xfrm>
            <a:off x="768096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4" name="Shape 42"/>
          <p:cNvSpPr/>
          <p:nvPr/>
        </p:nvSpPr>
        <p:spPr>
          <a:xfrm>
            <a:off x="795528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5" name="Shape 43"/>
          <p:cNvSpPr/>
          <p:nvPr/>
        </p:nvSpPr>
        <p:spPr>
          <a:xfrm>
            <a:off x="8229600" y="210312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6" name="Shape 44"/>
          <p:cNvSpPr/>
          <p:nvPr/>
        </p:nvSpPr>
        <p:spPr>
          <a:xfrm>
            <a:off x="685800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7" name="Shape 45"/>
          <p:cNvSpPr/>
          <p:nvPr/>
        </p:nvSpPr>
        <p:spPr>
          <a:xfrm>
            <a:off x="713232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8" name="Shape 46"/>
          <p:cNvSpPr/>
          <p:nvPr/>
        </p:nvSpPr>
        <p:spPr>
          <a:xfrm>
            <a:off x="740664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49" name="Shape 47"/>
          <p:cNvSpPr/>
          <p:nvPr/>
        </p:nvSpPr>
        <p:spPr>
          <a:xfrm>
            <a:off x="768096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0" name="Shape 48"/>
          <p:cNvSpPr/>
          <p:nvPr/>
        </p:nvSpPr>
        <p:spPr>
          <a:xfrm>
            <a:off x="795528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1" name="Shape 49"/>
          <p:cNvSpPr/>
          <p:nvPr/>
        </p:nvSpPr>
        <p:spPr>
          <a:xfrm>
            <a:off x="8229600" y="2377440"/>
            <a:ext cx="36576" cy="36576"/>
          </a:xfrm>
          <a:prstGeom prst="ellipse">
            <a:avLst/>
          </a:prstGeom>
          <a:solidFill>
            <a:srgbClr val="3D6BF5">
              <a:alpha val="40000"/>
            </a:srgbClr>
          </a:solidFill>
          <a:ln w="12700">
            <a:solidFill>
              <a:srgbClr val="3D6BF5">
                <a:alpha val="40000"/>
              </a:srgbClr>
            </a:solidFill>
            <a:prstDash val="solid"/>
          </a:ln>
        </p:spPr>
        <p:txBody>
          <a:bodyPr/>
          <a:lstStyle/>
          <a:p>
            <a:endParaRPr lang="en-AU"/>
          </a:p>
        </p:txBody>
      </p:sp>
      <p:sp>
        <p:nvSpPr>
          <p:cNvPr id="52" name="Text 50"/>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1A1A2E"/>
                </a:solidFill>
                <a:latin typeface="Arial Black" pitchFamily="34" charset="0"/>
                <a:ea typeface="Arial Black" pitchFamily="34" charset="-122"/>
                <a:cs typeface="Arial Black" pitchFamily="34" charset="-120"/>
              </a:rPr>
              <a:t>References</a:t>
            </a:r>
            <a:endParaRPr lang="en-US" sz="2800" dirty="0"/>
          </a:p>
        </p:txBody>
      </p:sp>
      <p:sp>
        <p:nvSpPr>
          <p:cNvPr id="53" name="Shape 51"/>
          <p:cNvSpPr/>
          <p:nvPr/>
        </p:nvSpPr>
        <p:spPr>
          <a:xfrm>
            <a:off x="457200" y="1417320"/>
            <a:ext cx="8229600" cy="777240"/>
          </a:xfrm>
          <a:prstGeom prst="rect">
            <a:avLst/>
          </a:prstGeom>
          <a:solidFill>
            <a:srgbClr val="EFF3FF"/>
          </a:solidFill>
          <a:ln w="12700">
            <a:solidFill>
              <a:srgbClr val="EFF3FF"/>
            </a:solidFill>
            <a:prstDash val="solid"/>
          </a:ln>
          <a:effectLst>
            <a:outerShdw blurRad="50800" dist="12700" dir="8100000" algn="bl" rotWithShape="0">
              <a:srgbClr val="BBCCEE">
                <a:alpha val="35000"/>
              </a:srgbClr>
            </a:outerShdw>
          </a:effectLst>
        </p:spPr>
        <p:txBody>
          <a:bodyPr/>
          <a:lstStyle/>
          <a:p>
            <a:endParaRPr lang="en-AU"/>
          </a:p>
        </p:txBody>
      </p:sp>
      <p:sp>
        <p:nvSpPr>
          <p:cNvPr id="54" name="Shape 52"/>
          <p:cNvSpPr/>
          <p:nvPr/>
        </p:nvSpPr>
        <p:spPr>
          <a:xfrm>
            <a:off x="457200" y="1417320"/>
            <a:ext cx="54864" cy="777240"/>
          </a:xfrm>
          <a:prstGeom prst="rect">
            <a:avLst/>
          </a:prstGeom>
          <a:solidFill>
            <a:srgbClr val="3D6BF5"/>
          </a:solidFill>
          <a:ln w="12700">
            <a:solidFill>
              <a:srgbClr val="3D6BF5"/>
            </a:solidFill>
            <a:prstDash val="solid"/>
          </a:ln>
        </p:spPr>
        <p:txBody>
          <a:bodyPr/>
          <a:lstStyle/>
          <a:p>
            <a:endParaRPr lang="en-AU"/>
          </a:p>
        </p:txBody>
      </p:sp>
      <p:sp>
        <p:nvSpPr>
          <p:cNvPr id="55" name="Text 53"/>
          <p:cNvSpPr/>
          <p:nvPr/>
        </p:nvSpPr>
        <p:spPr>
          <a:xfrm>
            <a:off x="594360" y="1463040"/>
            <a:ext cx="1371600" cy="274320"/>
          </a:xfrm>
          <a:prstGeom prst="rect">
            <a:avLst/>
          </a:prstGeom>
          <a:noFill/>
          <a:ln/>
        </p:spPr>
        <p:txBody>
          <a:bodyPr wrap="square" lIns="0" tIns="0" rIns="0" bIns="0" rtlCol="0" anchor="ctr"/>
          <a:lstStyle/>
          <a:p>
            <a:pPr marL="0" indent="0">
              <a:buNone/>
            </a:pPr>
            <a:r>
              <a:rPr lang="en-US" sz="900" b="1" dirty="0">
                <a:solidFill>
                  <a:srgbClr val="3D6BF5"/>
                </a:solidFill>
              </a:rPr>
              <a:t>DATASET</a:t>
            </a:r>
            <a:endParaRPr lang="en-US" sz="900" dirty="0"/>
          </a:p>
        </p:txBody>
      </p:sp>
      <p:sp>
        <p:nvSpPr>
          <p:cNvPr id="56" name="Text 54"/>
          <p:cNvSpPr/>
          <p:nvPr/>
        </p:nvSpPr>
        <p:spPr>
          <a:xfrm>
            <a:off x="594360" y="1737360"/>
            <a:ext cx="7955280" cy="41148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jamiewelsh2 (2023). NBA Player Salaries (2022–23 Season). Kaggle.</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https://www.kaggle.com/datasets/jamiewelsh2/nba-player-salaries-2022-23-season</a:t>
            </a:r>
            <a:endParaRPr lang="en-US" sz="1050" dirty="0"/>
          </a:p>
        </p:txBody>
      </p:sp>
      <p:sp>
        <p:nvSpPr>
          <p:cNvPr id="57" name="Shape 55"/>
          <p:cNvSpPr/>
          <p:nvPr/>
        </p:nvSpPr>
        <p:spPr>
          <a:xfrm>
            <a:off x="457200" y="2313432"/>
            <a:ext cx="8229600" cy="777240"/>
          </a:xfrm>
          <a:prstGeom prst="rect">
            <a:avLst/>
          </a:prstGeom>
          <a:solidFill>
            <a:srgbClr val="EFF3FF"/>
          </a:solidFill>
          <a:ln w="12700">
            <a:solidFill>
              <a:srgbClr val="EFF3FF"/>
            </a:solidFill>
            <a:prstDash val="solid"/>
          </a:ln>
          <a:effectLst>
            <a:outerShdw blurRad="50800" dist="12700" dir="8100000" algn="bl" rotWithShape="0">
              <a:srgbClr val="BBCCEE">
                <a:alpha val="35000"/>
              </a:srgbClr>
            </a:outerShdw>
          </a:effectLst>
        </p:spPr>
        <p:txBody>
          <a:bodyPr/>
          <a:lstStyle/>
          <a:p>
            <a:endParaRPr lang="en-AU"/>
          </a:p>
        </p:txBody>
      </p:sp>
      <p:sp>
        <p:nvSpPr>
          <p:cNvPr id="58" name="Shape 56"/>
          <p:cNvSpPr/>
          <p:nvPr/>
        </p:nvSpPr>
        <p:spPr>
          <a:xfrm>
            <a:off x="457200" y="2313432"/>
            <a:ext cx="54864" cy="777240"/>
          </a:xfrm>
          <a:prstGeom prst="rect">
            <a:avLst/>
          </a:prstGeom>
          <a:solidFill>
            <a:srgbClr val="3D6BF5"/>
          </a:solidFill>
          <a:ln w="12700">
            <a:solidFill>
              <a:srgbClr val="3D6BF5"/>
            </a:solidFill>
            <a:prstDash val="solid"/>
          </a:ln>
        </p:spPr>
        <p:txBody>
          <a:bodyPr/>
          <a:lstStyle/>
          <a:p>
            <a:endParaRPr lang="en-AU"/>
          </a:p>
        </p:txBody>
      </p:sp>
      <p:sp>
        <p:nvSpPr>
          <p:cNvPr id="59" name="Text 57"/>
          <p:cNvSpPr/>
          <p:nvPr/>
        </p:nvSpPr>
        <p:spPr>
          <a:xfrm>
            <a:off x="594360" y="2359152"/>
            <a:ext cx="1371600" cy="274320"/>
          </a:xfrm>
          <a:prstGeom prst="rect">
            <a:avLst/>
          </a:prstGeom>
          <a:noFill/>
          <a:ln/>
        </p:spPr>
        <p:txBody>
          <a:bodyPr wrap="square" lIns="0" tIns="0" rIns="0" bIns="0" rtlCol="0" anchor="ctr"/>
          <a:lstStyle/>
          <a:p>
            <a:pPr marL="0" indent="0">
              <a:buNone/>
            </a:pPr>
            <a:r>
              <a:rPr lang="en-US" sz="900" b="1" dirty="0">
                <a:solidFill>
                  <a:srgbClr val="3D6BF5"/>
                </a:solidFill>
              </a:rPr>
              <a:t>ALGORITHM</a:t>
            </a:r>
            <a:endParaRPr lang="en-US" sz="900" dirty="0"/>
          </a:p>
        </p:txBody>
      </p:sp>
      <p:sp>
        <p:nvSpPr>
          <p:cNvPr id="60" name="Text 58"/>
          <p:cNvSpPr/>
          <p:nvPr/>
        </p:nvSpPr>
        <p:spPr>
          <a:xfrm>
            <a:off x="594360" y="2633472"/>
            <a:ext cx="7955280" cy="41148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Liu, F.T., Ting, K.M., &amp; Zhou, Z.H. (2008). Isolation Forest. 2008 Eighth IEEE</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International Conference on Data Mining, pp. 413–422.</a:t>
            </a:r>
            <a:endParaRPr lang="en-US" sz="1050" dirty="0"/>
          </a:p>
        </p:txBody>
      </p:sp>
      <p:sp>
        <p:nvSpPr>
          <p:cNvPr id="61" name="Shape 59"/>
          <p:cNvSpPr/>
          <p:nvPr/>
        </p:nvSpPr>
        <p:spPr>
          <a:xfrm>
            <a:off x="457200" y="3209544"/>
            <a:ext cx="8229600" cy="777240"/>
          </a:xfrm>
          <a:prstGeom prst="rect">
            <a:avLst/>
          </a:prstGeom>
          <a:solidFill>
            <a:srgbClr val="EFF3FF"/>
          </a:solidFill>
          <a:ln w="12700">
            <a:solidFill>
              <a:srgbClr val="EFF3FF"/>
            </a:solidFill>
            <a:prstDash val="solid"/>
          </a:ln>
          <a:effectLst>
            <a:outerShdw blurRad="50800" dist="12700" dir="8100000" algn="bl" rotWithShape="0">
              <a:srgbClr val="BBCCEE">
                <a:alpha val="35000"/>
              </a:srgbClr>
            </a:outerShdw>
          </a:effectLst>
        </p:spPr>
        <p:txBody>
          <a:bodyPr/>
          <a:lstStyle/>
          <a:p>
            <a:endParaRPr lang="en-AU"/>
          </a:p>
        </p:txBody>
      </p:sp>
      <p:sp>
        <p:nvSpPr>
          <p:cNvPr id="62" name="Shape 60"/>
          <p:cNvSpPr/>
          <p:nvPr/>
        </p:nvSpPr>
        <p:spPr>
          <a:xfrm>
            <a:off x="457200" y="3209544"/>
            <a:ext cx="54864" cy="777240"/>
          </a:xfrm>
          <a:prstGeom prst="rect">
            <a:avLst/>
          </a:prstGeom>
          <a:solidFill>
            <a:srgbClr val="3D6BF5"/>
          </a:solidFill>
          <a:ln w="12700">
            <a:solidFill>
              <a:srgbClr val="3D6BF5"/>
            </a:solidFill>
            <a:prstDash val="solid"/>
          </a:ln>
        </p:spPr>
        <p:txBody>
          <a:bodyPr/>
          <a:lstStyle/>
          <a:p>
            <a:endParaRPr lang="en-AU"/>
          </a:p>
        </p:txBody>
      </p:sp>
      <p:sp>
        <p:nvSpPr>
          <p:cNvPr id="63" name="Text 61"/>
          <p:cNvSpPr/>
          <p:nvPr/>
        </p:nvSpPr>
        <p:spPr>
          <a:xfrm>
            <a:off x="594360" y="3255264"/>
            <a:ext cx="1371600" cy="274320"/>
          </a:xfrm>
          <a:prstGeom prst="rect">
            <a:avLst/>
          </a:prstGeom>
          <a:noFill/>
          <a:ln/>
        </p:spPr>
        <p:txBody>
          <a:bodyPr wrap="square" lIns="0" tIns="0" rIns="0" bIns="0" rtlCol="0" anchor="ctr"/>
          <a:lstStyle/>
          <a:p>
            <a:pPr marL="0" indent="0">
              <a:buNone/>
            </a:pPr>
            <a:r>
              <a:rPr lang="en-US" sz="900" b="1" dirty="0">
                <a:solidFill>
                  <a:srgbClr val="3D6BF5"/>
                </a:solidFill>
              </a:rPr>
              <a:t>LIBRARY</a:t>
            </a:r>
            <a:endParaRPr lang="en-US" sz="900" dirty="0"/>
          </a:p>
        </p:txBody>
      </p:sp>
      <p:sp>
        <p:nvSpPr>
          <p:cNvPr id="64" name="Text 62"/>
          <p:cNvSpPr/>
          <p:nvPr/>
        </p:nvSpPr>
        <p:spPr>
          <a:xfrm>
            <a:off x="594360" y="3529584"/>
            <a:ext cx="7955280" cy="41148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Pedregosa, F., et al. (2011). Scikit-learn: Machine Learning in Python.</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Journal of Machine Learning Research, 12, 2825–2830.</a:t>
            </a:r>
            <a:endParaRPr lang="en-US" sz="1050" dirty="0"/>
          </a:p>
        </p:txBody>
      </p:sp>
      <p:sp>
        <p:nvSpPr>
          <p:cNvPr id="65" name="Shape 63"/>
          <p:cNvSpPr/>
          <p:nvPr/>
        </p:nvSpPr>
        <p:spPr>
          <a:xfrm>
            <a:off x="457200" y="4105656"/>
            <a:ext cx="8229600" cy="777240"/>
          </a:xfrm>
          <a:prstGeom prst="rect">
            <a:avLst/>
          </a:prstGeom>
          <a:solidFill>
            <a:srgbClr val="EFF3FF"/>
          </a:solidFill>
          <a:ln w="12700">
            <a:solidFill>
              <a:srgbClr val="EFF3FF"/>
            </a:solidFill>
            <a:prstDash val="solid"/>
          </a:ln>
          <a:effectLst>
            <a:outerShdw blurRad="50800" dist="12700" dir="8100000" algn="bl" rotWithShape="0">
              <a:srgbClr val="BBCCEE">
                <a:alpha val="35000"/>
              </a:srgbClr>
            </a:outerShdw>
          </a:effectLst>
        </p:spPr>
        <p:txBody>
          <a:bodyPr/>
          <a:lstStyle/>
          <a:p>
            <a:endParaRPr lang="en-AU"/>
          </a:p>
        </p:txBody>
      </p:sp>
      <p:sp>
        <p:nvSpPr>
          <p:cNvPr id="66" name="Shape 64"/>
          <p:cNvSpPr/>
          <p:nvPr/>
        </p:nvSpPr>
        <p:spPr>
          <a:xfrm>
            <a:off x="457200" y="4105656"/>
            <a:ext cx="54864" cy="777240"/>
          </a:xfrm>
          <a:prstGeom prst="rect">
            <a:avLst/>
          </a:prstGeom>
          <a:solidFill>
            <a:srgbClr val="3D6BF5"/>
          </a:solidFill>
          <a:ln w="12700">
            <a:solidFill>
              <a:srgbClr val="3D6BF5"/>
            </a:solidFill>
            <a:prstDash val="solid"/>
          </a:ln>
        </p:spPr>
        <p:txBody>
          <a:bodyPr/>
          <a:lstStyle/>
          <a:p>
            <a:endParaRPr lang="en-AU"/>
          </a:p>
        </p:txBody>
      </p:sp>
      <p:sp>
        <p:nvSpPr>
          <p:cNvPr id="67" name="Text 65"/>
          <p:cNvSpPr/>
          <p:nvPr/>
        </p:nvSpPr>
        <p:spPr>
          <a:xfrm>
            <a:off x="594360" y="4151376"/>
            <a:ext cx="1371600" cy="274320"/>
          </a:xfrm>
          <a:prstGeom prst="rect">
            <a:avLst/>
          </a:prstGeom>
          <a:noFill/>
          <a:ln/>
        </p:spPr>
        <p:txBody>
          <a:bodyPr wrap="square" lIns="0" tIns="0" rIns="0" bIns="0" rtlCol="0" anchor="ctr"/>
          <a:lstStyle/>
          <a:p>
            <a:pPr marL="0" indent="0">
              <a:buNone/>
            </a:pPr>
            <a:r>
              <a:rPr lang="en-US" sz="900" b="1" dirty="0">
                <a:solidFill>
                  <a:srgbClr val="3D6BF5"/>
                </a:solidFill>
              </a:rPr>
              <a:t>STATS</a:t>
            </a:r>
            <a:endParaRPr lang="en-US" sz="900" dirty="0"/>
          </a:p>
        </p:txBody>
      </p:sp>
      <p:sp>
        <p:nvSpPr>
          <p:cNvPr id="68" name="Text 66"/>
          <p:cNvSpPr/>
          <p:nvPr/>
        </p:nvSpPr>
        <p:spPr>
          <a:xfrm>
            <a:off x="594360" y="4425696"/>
            <a:ext cx="7955280" cy="411480"/>
          </a:xfrm>
          <a:prstGeom prst="rect">
            <a:avLst/>
          </a:prstGeom>
          <a:noFill/>
          <a:ln/>
        </p:spPr>
        <p:txBody>
          <a:bodyPr wrap="square" lIns="0" tIns="0" rIns="0" bIns="0" rtlCol="0" anchor="t"/>
          <a:lstStyle/>
          <a:p>
            <a:pPr marL="0" indent="0">
              <a:buNone/>
            </a:pPr>
            <a:r>
              <a:rPr lang="en-US" sz="1050" dirty="0">
                <a:solidFill>
                  <a:srgbClr val="1A1A2E"/>
                </a:solidFill>
                <a:latin typeface="Calibri" pitchFamily="34" charset="0"/>
                <a:ea typeface="Calibri" pitchFamily="34" charset="-122"/>
                <a:cs typeface="Calibri" pitchFamily="34" charset="-120"/>
              </a:rPr>
              <a:t>Basketball Reference (2023). 2022–23 NBA Player Stats.</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https://www.basketball-reference.com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282</TotalTime>
  <Words>2387</Words>
  <Application>Microsoft Office PowerPoint</Application>
  <PresentationFormat>On-screen Show (16:9)</PresentationFormat>
  <Paragraphs>278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Nam Trung Tran (Student)</cp:lastModifiedBy>
  <cp:revision>6</cp:revision>
  <dcterms:created xsi:type="dcterms:W3CDTF">2026-05-24T14:07:55Z</dcterms:created>
  <dcterms:modified xsi:type="dcterms:W3CDTF">2026-06-02T04:37:48Z</dcterms:modified>
</cp:coreProperties>
</file>